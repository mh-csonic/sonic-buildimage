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28"/>
  </p:notesMasterIdLst>
  <p:sldIdLst>
    <p:sldId id="501" r:id="rId2"/>
    <p:sldId id="502" r:id="rId3"/>
    <p:sldId id="503" r:id="rId4"/>
    <p:sldId id="504" r:id="rId5"/>
    <p:sldId id="505" r:id="rId6"/>
    <p:sldId id="506" r:id="rId7"/>
    <p:sldId id="507" r:id="rId8"/>
  </p:sldIdLst>
  <p:sldSz cx="12192000" cy="6858000"/>
  <p:notesSz cx="6858000" cy="9144000"/>
  <p:embeddedFontLst>
    <p:embeddedFont>
      <p:font typeface="OpenAI Sans" panose="020B0004030202060203" pitchFamily="34" charset="77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4"/>
    <p:restoredTop sz="92742"/>
  </p:normalViewPr>
  <p:slideViewPr>
    <p:cSldViewPr snapToGrid="0">
      <p:cViewPr varScale="1">
        <p:scale>
          <a:sx n="52" d="100"/>
          <a:sy n="52" d="100"/>
        </p:scale>
        <p:origin x="208" y="264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slide" Target="slides/slide2.xml" /><Relationship Id="rId34" Type="http://schemas.openxmlformats.org/officeDocument/2006/relationships/viewProps" Target="viewProps.xml" /><Relationship Id="rId7" Type="http://schemas.openxmlformats.org/officeDocument/2006/relationships/slide" Target="slides/slide6.xml" /><Relationship Id="rId33" Type="http://schemas.openxmlformats.org/officeDocument/2006/relationships/presProps" Target="presProps.xml" /><Relationship Id="rId2" Type="http://schemas.openxmlformats.org/officeDocument/2006/relationships/slide" Target="slides/slide1.xml" /><Relationship Id="rId29" Type="http://schemas.openxmlformats.org/officeDocument/2006/relationships/font" Target="fonts/font1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32" Type="http://schemas.openxmlformats.org/officeDocument/2006/relationships/font" Target="fonts/font4.fntdata" /><Relationship Id="rId5" Type="http://schemas.openxmlformats.org/officeDocument/2006/relationships/slide" Target="slides/slide4.xml" /><Relationship Id="rId28" Type="http://schemas.openxmlformats.org/officeDocument/2006/relationships/notesMaster" Target="notesMasters/notesMaster1.xml" /><Relationship Id="rId36" Type="http://schemas.openxmlformats.org/officeDocument/2006/relationships/tableStyles" Target="tableStyles.xml" /><Relationship Id="rId31" Type="http://schemas.openxmlformats.org/officeDocument/2006/relationships/font" Target="fonts/font3.fntdata" /><Relationship Id="rId4" Type="http://schemas.openxmlformats.org/officeDocument/2006/relationships/slide" Target="slides/slide3.xml" /><Relationship Id="rId30" Type="http://schemas.openxmlformats.org/officeDocument/2006/relationships/font" Target="fonts/font2.fntdata" /><Relationship Id="rId35" Type="http://schemas.openxmlformats.org/officeDocument/2006/relationships/theme" Target="theme/theme1.xml" /><Relationship Id="rId8" Type="http://schemas.openxmlformats.org/officeDocument/2006/relationships/slide" Target="slides/slide7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onic-cover.png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onic-navy-header.png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onic-navy-header.png"/>
  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onic-navy-header.png"/>
  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onic-navy-header.png"/>
  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onic-navy-header.png"/>
  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onic-navy-header.png"/>
  <Relationship Id="rId3" Type="http://schemas.openxmlformats.org/officeDocument/2006/relationships/hyperlink" Target="https://github.com/mh-csonic/sonic-buildimage/tree/rathnasabapathyv/2026_hackathon_persona" TargetMode="External"/><Relationship Id="rId4" Type="http://schemas.openxmlformats.org/officeDocument/2006/relationships/hyperlink" Target="https://github.com/mh-csonic/sonic-utilities/tree/rathnasabapathyv/2026_hackathon_persona" TargetMode="External"/><Relationship Id="rId5" Type="http://schemas.openxmlformats.org/officeDocument/2006/relationships/hyperlink" Target="https://github.com/mh-csonic/sonic-buildimage/tree/rathnasabapathyv/2026_hackathon_persona/personaforge/docs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SONiC template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2"/>
          <p:cNvSpPr txBox="1"/>
          <p:nvPr/>
        </p:nvSpPr>
        <p:spPr>
          <a:xfrm>
            <a:off x="566928" y="301752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00" dirty="0" b="1">
                <a:solidFill>
                  <a:srgbClr val="00B8D7"/>
                </a:solidFill>
                <a:latin typeface="Aptos"/>
              </a:rPr>
              <a:t>OCP HACKATHON 2026</a:t>
            </a:r>
            <a:endParaRPr lang="en-US" sz="1000"/>
          </a:p>
        </p:txBody>
      </p:sp>
      <p:sp>
        <p:nvSpPr>
          <p:cNvPr id="10" name="Text 10"/>
          <p:cNvSpPr txBox="1"/>
          <p:nvPr/>
        </p:nvSpPr>
        <p:spPr>
          <a:xfrm>
            <a:off x="566928" y="832104"/>
            <a:ext cx="7818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3800" dirty="0" b="1">
                <a:solidFill>
                  <a:srgbClr val="08172F"/>
                </a:solidFill>
                <a:latin typeface="Aptos"/>
              </a:rPr>
              <a:t>PersonaForge</a:t>
            </a:r>
            <a:endParaRPr lang="en-US" sz="3800"/>
          </a:p>
        </p:txBody>
      </p:sp>
      <p:sp>
        <p:nvSpPr>
          <p:cNvPr id="11" name="Text 11"/>
          <p:cNvSpPr txBox="1"/>
          <p:nvPr/>
        </p:nvSpPr>
        <p:spPr>
          <a:xfrm>
            <a:off x="566928" y="1527048"/>
            <a:ext cx="7818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400" dirty="0" b="1">
                <a:solidFill>
                  <a:srgbClr val="34383D"/>
                </a:solidFill>
                <a:latin typeface="Aptos"/>
              </a:rPr>
              <a:t>Purpose-built SONiC.</a:t>
            </a:r>
            <a:endParaRPr lang="en-US" sz="2400"/>
          </a:p>
          <a:p>
            <a:pPr algn="l"/>
            <a:r>
              <a:rPr lang="en-US" sz="1800" dirty="0">
                <a:solidFill>
                  <a:srgbClr val="687985"/>
                </a:solidFill>
                <a:latin typeface="Aptos"/>
              </a:rPr>
              <a:t>One persona. Build lean. Adapt at runtime.</a:t>
            </a:r>
            <a:endParaRPr lang="en-US" sz="1800"/>
          </a:p>
        </p:txBody>
      </p:sp>
      <p:sp>
        <p:nvSpPr>
          <p:cNvPr id="12" name="Text 12"/>
          <p:cNvSpPr txBox="1"/>
          <p:nvPr/>
        </p:nvSpPr>
        <p:spPr>
          <a:xfrm>
            <a:off x="566928" y="2359152"/>
            <a:ext cx="10735056" cy="438912"/>
          </a:xfrm>
          <a:prstGeom prst="roundRect">
            <a:avLst/>
          </a:prstGeom>
          <a:solidFill>
            <a:srgbClr val="E4F2F7"/>
          </a:solidFill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en-US" sz="1400" dirty="0" b="1">
                <a:solidFill>
                  <a:srgbClr val="08172F"/>
                </a:solidFill>
                <a:latin typeface="Aptos"/>
              </a:rPr>
              <a:t>CATEGORY: Developer experience improvements: builds, CI/CD</a:t>
            </a:r>
            <a:endParaRPr lang="en-US" sz="1400"/>
          </a:p>
        </p:txBody>
      </p:sp>
      <p:sp>
        <p:nvSpPr>
          <p:cNvPr id="13" name="Text 13"/>
          <p:cNvSpPr txBox="1"/>
          <p:nvPr/>
        </p:nvSpPr>
        <p:spPr>
          <a:xfrm>
            <a:off x="484632" y="2999232"/>
            <a:ext cx="10954512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</p:txBody>
      </p:sp>
      <p:sp>
        <p:nvSpPr>
          <p:cNvPr id="14" name="Text 14"/>
          <p:cNvSpPr txBox="1"/>
          <p:nvPr/>
        </p:nvSpPr>
        <p:spPr>
          <a:xfrm>
            <a:off x="566928" y="3017520"/>
            <a:ext cx="10735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300" dirty="0" b="1">
                <a:solidFill>
                  <a:srgbClr val="009B77"/>
                </a:solidFill>
                <a:latin typeface="Aptos"/>
              </a:rPr>
              <a:t>TEAM • Dell Technologies</a:t>
            </a:r>
            <a:endParaRPr lang="en-US" sz="1300"/>
          </a:p>
        </p:txBody>
      </p:sp>
      <p:sp>
        <p:nvSpPr>
          <p:cNvPr id="15" name="Text 15"/>
          <p:cNvSpPr txBox="1"/>
          <p:nvPr/>
        </p:nvSpPr>
        <p:spPr>
          <a:xfrm>
            <a:off x="566928" y="3474720"/>
            <a:ext cx="34564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400" dirty="0" b="1">
                <a:solidFill>
                  <a:srgbClr val="34383D"/>
                </a:solidFill>
                <a:latin typeface="Aptos"/>
              </a:rPr>
              <a:t>Rathnasabapathy Velautharaj</a:t>
            </a:r>
            <a:endParaRPr lang="en-US" sz="1400"/>
          </a:p>
          <a:p>
            <a:pPr algn="l"/>
            <a:r>
              <a:rPr lang="en-US" sz="1000" dirty="0">
                <a:solidFill>
                  <a:srgbClr val="687985"/>
                </a:solidFill>
                <a:latin typeface="Aptos"/>
              </a:rPr>
              <a:t>Rathna.Sabapathy@dell.com</a:t>
            </a:r>
            <a:endParaRPr lang="en-US" sz="1000"/>
          </a:p>
        </p:txBody>
      </p:sp>
      <p:sp>
        <p:nvSpPr>
          <p:cNvPr id="16" name="Text 16"/>
          <p:cNvSpPr txBox="1"/>
          <p:nvPr/>
        </p:nvSpPr>
        <p:spPr>
          <a:xfrm>
            <a:off x="4261104" y="3474720"/>
            <a:ext cx="34564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400" dirty="0" b="1">
                <a:solidFill>
                  <a:srgbClr val="34383D"/>
                </a:solidFill>
                <a:latin typeface="Aptos"/>
              </a:rPr>
              <a:t>Phaniraj Vattem</a:t>
            </a:r>
            <a:endParaRPr lang="en-US" sz="1400"/>
          </a:p>
          <a:p>
            <a:pPr algn="l"/>
            <a:r>
              <a:rPr lang="en-US" sz="1000" dirty="0">
                <a:solidFill>
                  <a:srgbClr val="687985"/>
                </a:solidFill>
                <a:latin typeface="Aptos"/>
              </a:rPr>
              <a:t>Phaniraj.Vattem@dell.com</a:t>
            </a:r>
            <a:endParaRPr lang="en-US" sz="1000"/>
          </a:p>
        </p:txBody>
      </p:sp>
      <p:sp>
        <p:nvSpPr>
          <p:cNvPr id="17" name="Text 17"/>
          <p:cNvSpPr txBox="1"/>
          <p:nvPr/>
        </p:nvSpPr>
        <p:spPr>
          <a:xfrm>
            <a:off x="7955279" y="3474720"/>
            <a:ext cx="34564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400" dirty="0" b="1">
                <a:solidFill>
                  <a:srgbClr val="34383D"/>
                </a:solidFill>
                <a:latin typeface="Aptos"/>
              </a:rPr>
              <a:t>Maheshwara Hampasagar</a:t>
            </a:r>
            <a:endParaRPr lang="en-US" sz="1400"/>
          </a:p>
          <a:p>
            <a:pPr algn="l"/>
            <a:r>
              <a:rPr lang="en-US" sz="1000" dirty="0">
                <a:solidFill>
                  <a:srgbClr val="687985"/>
                </a:solidFill>
                <a:latin typeface="Aptos"/>
              </a:rPr>
              <a:t>Maheshwara.Hampasaga@dell.com</a:t>
            </a:r>
            <a:endParaRPr lang="en-US" sz="1000"/>
          </a:p>
        </p:txBody>
      </p:sp>
      <p:sp>
        <p:nvSpPr>
          <p:cNvPr id="18" name="Text 18"/>
          <p:cNvSpPr txBox="1"/>
          <p:nvPr/>
        </p:nvSpPr>
        <p:spPr>
          <a:xfrm>
            <a:off x="566928" y="4261104"/>
            <a:ext cx="34564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400" dirty="0" b="1">
                <a:solidFill>
                  <a:srgbClr val="34383D"/>
                </a:solidFill>
                <a:latin typeface="Aptos"/>
              </a:rPr>
              <a:t>Tejaswi Goel</a:t>
            </a:r>
            <a:endParaRPr lang="en-US" sz="1400"/>
          </a:p>
          <a:p>
            <a:pPr algn="l"/>
            <a:r>
              <a:rPr lang="en-US" sz="1000" dirty="0">
                <a:solidFill>
                  <a:srgbClr val="687985"/>
                </a:solidFill>
                <a:latin typeface="Aptos"/>
              </a:rPr>
              <a:t>Tejaswi.Goel@Dell.com</a:t>
            </a:r>
            <a:endParaRPr lang="en-US" sz="1000"/>
          </a:p>
        </p:txBody>
      </p:sp>
      <p:sp>
        <p:nvSpPr>
          <p:cNvPr id="19" name="Text 19"/>
          <p:cNvSpPr txBox="1"/>
          <p:nvPr/>
        </p:nvSpPr>
        <p:spPr>
          <a:xfrm>
            <a:off x="4261104" y="4261104"/>
            <a:ext cx="34564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400" dirty="0" b="1">
                <a:solidFill>
                  <a:srgbClr val="34383D"/>
                </a:solidFill>
                <a:latin typeface="Aptos"/>
              </a:rPr>
              <a:t>Sucheta Mahara</a:t>
            </a:r>
            <a:endParaRPr lang="en-US" sz="1400"/>
          </a:p>
          <a:p>
            <a:pPr algn="l"/>
            <a:r>
              <a:rPr lang="en-US" sz="1000" dirty="0">
                <a:solidFill>
                  <a:srgbClr val="687985"/>
                </a:solidFill>
                <a:latin typeface="Aptos"/>
              </a:rPr>
              <a:t>Sucheta.Mahara@dell.com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SONiC template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2"/>
          <p:cNvSpPr txBox="1"/>
          <p:nvPr/>
        </p:nvSpPr>
        <p:spPr>
          <a:xfrm>
            <a:off x="502920" y="128016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dirty="0" b="1">
                <a:solidFill>
                  <a:srgbClr val="00B8D7"/>
                </a:solidFill>
                <a:latin typeface="Aptos"/>
              </a:rPr>
              <a:t>PRIOR WORK + HACKATHON CONTRIBUTION</a:t>
            </a:r>
            <a:endParaRPr lang="en-US" sz="900"/>
          </a:p>
        </p:txBody>
      </p:sp>
      <p:sp>
        <p:nvSpPr>
          <p:cNvPr id="3" name="Text 3"/>
          <p:cNvSpPr txBox="1"/>
          <p:nvPr/>
        </p:nvSpPr>
        <p:spPr>
          <a:xfrm>
            <a:off x="502920" y="384048"/>
            <a:ext cx="85496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300" dirty="0" b="1">
                <a:solidFill>
                  <a:srgbClr val="FFFFFF"/>
                </a:solidFill>
                <a:latin typeface="Aptos"/>
              </a:rPr>
              <a:t>Existing SONiC controls. New persona workflow.</a:t>
            </a:r>
            <a:endParaRPr lang="en-US" sz="2300"/>
          </a:p>
        </p:txBody>
      </p:sp>
      <p:sp>
        <p:nvSpPr>
          <p:cNvPr id="4" name="Text 4"/>
          <p:cNvSpPr txBox="1"/>
          <p:nvPr/>
        </p:nvSpPr>
        <p:spPr>
          <a:xfrm>
            <a:off x="8668512" y="146304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800" dirty="0" b="1">
                <a:solidFill>
                  <a:srgbClr val="FFFFFF"/>
                </a:solidFill>
                <a:latin typeface="Aptos"/>
              </a:rPr>
              <a:t>02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603504" y="1353312"/>
            <a:ext cx="5074920" cy="3694176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687985"/>
            </a:solidFill>
          </a:ln>
        </p:spPr>
        <p:txBody>
          <a:bodyPr wrap="square" lIns="274320" rIns="274320" tIns="274320" bIns="274320" anchor="t"/>
          <a:lstStyle/>
          <a:p>
            <a:pPr algn="l"/>
            <a:r>
              <a:rPr lang="en-US" sz="1100" dirty="0" b="1">
                <a:solidFill>
                  <a:srgbClr val="687985"/>
                </a:solidFill>
                <a:latin typeface="Aptos"/>
              </a:rPr>
              <a:t>BEFORE THE HACKATHON</a:t>
            </a:r>
            <a:endParaRPr lang="en-US" sz="1100"/>
          </a:p>
          <a:p>
            <a:pPr algn="l"/>
            <a:r>
              <a:rPr lang="en-US" sz="2200" dirty="0" b="1">
                <a:solidFill>
                  <a:srgbClr val="34383D"/>
                </a:solidFill>
                <a:latin typeface="Aptos"/>
              </a:rPr>
              <a:t>Existing SONiC foundations</a:t>
            </a:r>
            <a:endParaRPr lang="en-US" sz="2200"/>
          </a:p>
          <a:p>
            <a:pPr algn="l"/>
            <a:r>
              <a:rPr lang="en-US" sz="1500" dirty="0">
                <a:solidFill>
                  <a:srgbClr val="34383D"/>
                </a:solidFill>
                <a:latin typeface="Aptos"/>
              </a:rPr>
              <a:t>FEATURE: service lifecycle</a:t>
            </a:r>
            <a:endParaRPr lang="en-US" sz="1500"/>
          </a:p>
          <a:p>
            <a:pPr algn="l"/>
            <a:r>
              <a:rPr lang="en-US" sz="1500" dirty="0">
                <a:solidFill>
                  <a:srgbClr val="34383D"/>
                </a:solidFill>
                <a:latin typeface="Aptos"/>
              </a:rPr>
              <a:t>Make / INCLUDE_*: image selection</a:t>
            </a:r>
            <a:endParaRPr lang="en-US" sz="1500"/>
          </a:p>
          <a:p>
            <a:pPr algn="l"/>
            <a:r>
              <a:rPr lang="en-US" sz="1500" dirty="0">
                <a:solidFill>
                  <a:srgbClr val="34383D"/>
                </a:solidFill>
                <a:latin typeface="Aptos"/>
              </a:rPr>
              <a:t>ConfigDB + config save: persistence</a:t>
            </a:r>
            <a:endParaRPr lang="en-US" sz="1500"/>
          </a:p>
          <a:p>
            <a:pPr algn="l"/>
            <a:r>
              <a:rPr lang="en-US" sz="1500" dirty="0">
                <a:solidFill>
                  <a:srgbClr val="34383D"/>
                </a:solidFill>
                <a:latin typeface="Aptos"/>
              </a:rPr>
              <a:t>FRR startup + supervisor: daemons</a:t>
            </a:r>
            <a:endParaRPr lang="en-US" sz="1500"/>
          </a:p>
        </p:txBody>
      </p:sp>
      <p:sp>
        <p:nvSpPr>
          <p:cNvPr id="11" name="Text 11"/>
          <p:cNvSpPr txBox="1"/>
          <p:nvPr/>
        </p:nvSpPr>
        <p:spPr>
          <a:xfrm>
            <a:off x="6190488" y="1353312"/>
            <a:ext cx="5093208" cy="3694176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9B77"/>
            </a:solidFill>
          </a:ln>
        </p:spPr>
        <p:txBody>
          <a:bodyPr wrap="square" lIns="274320" rIns="274320" tIns="274320" bIns="274320" anchor="t"/>
          <a:lstStyle/>
          <a:p>
            <a:pPr algn="l"/>
            <a:r>
              <a:rPr lang="en-US" sz="1100" dirty="0" b="1">
                <a:solidFill>
                  <a:srgbClr val="009B77"/>
                </a:solidFill>
                <a:latin typeface="Aptos"/>
              </a:rPr>
              <a:t>BUILT DURING THE HACKATHON</a:t>
            </a:r>
            <a:endParaRPr lang="en-US" sz="1100"/>
          </a:p>
          <a:p>
            <a:pPr algn="l"/>
            <a:r>
              <a:rPr lang="en-US" sz="2200" dirty="0" b="1">
                <a:solidFill>
                  <a:srgbClr val="34383D"/>
                </a:solidFill>
                <a:latin typeface="Aptos"/>
              </a:rPr>
              <a:t>PersonaForge integration</a:t>
            </a:r>
            <a:endParaRPr lang="en-US" sz="2200"/>
          </a:p>
          <a:p>
            <a:pPr algn="l"/>
            <a:r>
              <a:rPr lang="en-US" sz="1500" dirty="0">
                <a:solidFill>
                  <a:srgbClr val="34383D"/>
                </a:solidFill>
                <a:latin typeface="Aptos"/>
              </a:rPr>
              <a:t>Reusable schema for YAML personas</a:t>
            </a:r>
            <a:endParaRPr lang="en-US" sz="1500"/>
          </a:p>
          <a:p>
            <a:pPr algn="l"/>
            <a:r>
              <a:rPr lang="en-US" sz="1400" dirty="0" b="1">
                <a:solidFill>
                  <a:srgbClr val="009B77"/>
                </a:solidFill>
                <a:latin typeface="Aptos"/>
              </a:rPr>
              <a:t>PERSONAFORGE_PROFILE build option</a:t>
            </a:r>
            <a:endParaRPr lang="en-US" sz="1400"/>
          </a:p>
          <a:p>
            <a:pPr algn="l"/>
            <a:r>
              <a:rPr lang="en-US" sz="1500" dirty="0">
                <a:solidFill>
                  <a:srgbClr val="34383D"/>
                </a:solidFill>
                <a:latin typeface="Aptos"/>
              </a:rPr>
              <a:t>Native plan / apply / status / drift</a:t>
            </a:r>
            <a:endParaRPr lang="en-US" sz="1500"/>
          </a:p>
          <a:p>
            <a:pPr algn="l"/>
            <a:r>
              <a:rPr lang="en-US" sz="1400" dirty="0">
                <a:solidFill>
                  <a:srgbClr val="34383D"/>
                </a:solidFill>
                <a:latin typeface="Aptos"/>
              </a:rPr>
              <a:t>Persistent FEATURE + FRR daemon policy</a:t>
            </a:r>
            <a:endParaRPr lang="en-US" sz="1400"/>
          </a:p>
          <a:p>
            <a:pPr algn="l"/>
            <a:r>
              <a:rPr lang="en-US" sz="1400" dirty="0">
                <a:solidFill>
                  <a:srgbClr val="34383D"/>
                </a:solidFill>
                <a:latin typeface="Aptos"/>
              </a:rPr>
              <a:t>Automated tests + three-DUT evidence</a:t>
            </a:r>
            <a:endParaRPr lang="en-US" sz="1400"/>
          </a:p>
        </p:txBody>
      </p:sp>
      <p:sp>
        <p:nvSpPr>
          <p:cNvPr id="12" name="Text 12"/>
          <p:cNvSpPr txBox="1"/>
          <p:nvPr/>
        </p:nvSpPr>
        <p:spPr>
          <a:xfrm>
            <a:off x="603504" y="5303520"/>
            <a:ext cx="10680192" cy="621792"/>
          </a:xfrm>
          <a:prstGeom prst="roundRect">
            <a:avLst/>
          </a:prstGeom>
          <a:solidFill>
            <a:srgbClr val="E4F2F7"/>
          </a:solidFill>
          <a:ln>
            <a:noFill/>
          </a:ln>
        </p:spPr>
        <p:txBody>
          <a:bodyPr wrap="square" lIns="118872" rIns="118872" tIns="118872" bIns="118872" anchor="ctr"/>
          <a:lstStyle/>
          <a:p>
            <a:pPr algn="ctr"/>
            <a:r>
              <a:rPr lang="en-US" sz="1900" dirty="0" b="1">
                <a:solidFill>
                  <a:srgbClr val="08172F"/>
                </a:solidFill>
                <a:latin typeface="Aptos"/>
              </a:rPr>
              <a:t>Our contribution: one reusable role across build and runtime.</a:t>
            </a:r>
            <a:endParaRPr lang="en-US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SONiC template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2"/>
          <p:cNvSpPr txBox="1"/>
          <p:nvPr/>
        </p:nvSpPr>
        <p:spPr>
          <a:xfrm>
            <a:off x="502920" y="128016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dirty="0" b="1">
                <a:solidFill>
                  <a:srgbClr val="00B8D7"/>
                </a:solidFill>
                <a:latin typeface="Aptos"/>
              </a:rPr>
              <a:t>THE JUDGE'S QUESTION</a:t>
            </a:r>
            <a:endParaRPr lang="en-US" sz="900"/>
          </a:p>
        </p:txBody>
      </p:sp>
      <p:sp>
        <p:nvSpPr>
          <p:cNvPr id="3" name="Text 3"/>
          <p:cNvSpPr txBox="1"/>
          <p:nvPr/>
        </p:nvSpPr>
        <p:spPr>
          <a:xfrm>
            <a:off x="502920" y="384048"/>
            <a:ext cx="85496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300" dirty="0" b="1">
                <a:solidFill>
                  <a:srgbClr val="FFFFFF"/>
                </a:solidFill>
                <a:latin typeface="Aptos"/>
              </a:rPr>
              <a:t>If FEATURE can stop it, why PersonaForge?</a:t>
            </a:r>
            <a:endParaRPr lang="en-US" sz="2300"/>
          </a:p>
        </p:txBody>
      </p:sp>
      <p:sp>
        <p:nvSpPr>
          <p:cNvPr id="4" name="Text 4"/>
          <p:cNvSpPr txBox="1"/>
          <p:nvPr/>
        </p:nvSpPr>
        <p:spPr>
          <a:xfrm>
            <a:off x="8668512" y="146304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800" dirty="0" b="1">
                <a:solidFill>
                  <a:srgbClr val="FFFFFF"/>
                </a:solidFill>
                <a:latin typeface="Aptos"/>
              </a:rPr>
              <a:t>03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603504" y="1389888"/>
            <a:ext cx="3401568" cy="345643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687985"/>
            </a:solidFill>
          </a:ln>
        </p:spPr>
        <p:txBody>
          <a:bodyPr wrap="square" lIns="265176" rIns="265176" tIns="265176" bIns="265176" anchor="t"/>
          <a:lstStyle/>
          <a:p>
            <a:pPr algn="l"/>
            <a:r>
              <a:rPr lang="en-US" sz="1100" dirty="0" b="1">
                <a:solidFill>
                  <a:srgbClr val="687985"/>
                </a:solidFill>
                <a:latin typeface="Aptos"/>
              </a:rPr>
              <a:t>FULL IMAGE</a:t>
            </a:r>
            <a:endParaRPr lang="en-US" sz="1100"/>
          </a:p>
          <a:p>
            <a:pPr algn="l"/>
            <a:r>
              <a:rPr lang="en-US" sz="2700" dirty="0" b="1">
                <a:solidFill>
                  <a:srgbClr val="34383D"/>
                </a:solidFill>
                <a:latin typeface="Aptos"/>
              </a:rPr>
              <a:t>13 running</a:t>
            </a:r>
            <a:endParaRPr lang="en-US" sz="2700"/>
          </a:p>
          <a:p>
            <a:pPr algn="l"/>
            <a:r>
              <a:rPr lang="en-US" sz="2000" dirty="0" b="1">
                <a:solidFill>
                  <a:srgbClr val="34383D"/>
                </a:solidFill>
                <a:latin typeface="Aptos"/>
              </a:rPr>
              <a:t>28 Docker repos</a:t>
            </a:r>
            <a:endParaRPr lang="en-US" sz="2000"/>
          </a:p>
          <a:p>
            <a:pPr algn="l"/>
            <a:r>
              <a:rPr lang="en-US" sz="1500" dirty="0">
                <a:solidFill>
                  <a:srgbClr val="687985"/>
                </a:solidFill>
                <a:latin typeface="Aptos"/>
              </a:rPr>
              <a:t>Broad capability ships</a:t>
            </a:r>
            <a:endParaRPr lang="en-US" sz="1500"/>
          </a:p>
          <a:p>
            <a:pPr algn="l"/>
            <a:r>
              <a:rPr lang="en-US" sz="1400" dirty="0">
                <a:solidFill>
                  <a:srgbClr val="687985"/>
                </a:solidFill>
                <a:latin typeface="Aptos"/>
              </a:rPr>
              <a:t>Optional services remain available</a:t>
            </a:r>
            <a:endParaRPr lang="en-US" sz="1400"/>
          </a:p>
        </p:txBody>
      </p:sp>
      <p:sp>
        <p:nvSpPr>
          <p:cNvPr id="11" name="Text 11"/>
          <p:cNvSpPr txBox="1"/>
          <p:nvPr/>
        </p:nvSpPr>
        <p:spPr>
          <a:xfrm>
            <a:off x="4178808" y="1389888"/>
            <a:ext cx="3401568" cy="345643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B8D7"/>
            </a:solidFill>
          </a:ln>
        </p:spPr>
        <p:txBody>
          <a:bodyPr wrap="square" lIns="265176" rIns="265176" tIns="265176" bIns="265176" anchor="t"/>
          <a:lstStyle/>
          <a:p>
            <a:pPr algn="l"/>
            <a:r>
              <a:rPr lang="en-US" sz="1100" dirty="0" b="1">
                <a:solidFill>
                  <a:srgbClr val="00B8D7"/>
                </a:solidFill>
                <a:latin typeface="Aptos"/>
              </a:rPr>
              <a:t>FEATURE-DISABLED</a:t>
            </a:r>
            <a:endParaRPr lang="en-US" sz="1100"/>
          </a:p>
          <a:p>
            <a:pPr algn="l"/>
            <a:r>
              <a:rPr lang="en-US" sz="2700" dirty="0" b="1">
                <a:solidFill>
                  <a:srgbClr val="00B8D7"/>
                </a:solidFill>
                <a:latin typeface="Aptos"/>
              </a:rPr>
              <a:t>9 running</a:t>
            </a:r>
            <a:endParaRPr lang="en-US" sz="2700"/>
          </a:p>
          <a:p>
            <a:pPr algn="l"/>
            <a:r>
              <a:rPr lang="en-US" sz="2000" dirty="0" b="1">
                <a:solidFill>
                  <a:srgbClr val="34383D"/>
                </a:solidFill>
                <a:latin typeface="Aptos"/>
              </a:rPr>
              <a:t>28 Docker repos</a:t>
            </a:r>
            <a:endParaRPr lang="en-US" sz="2000"/>
          </a:p>
          <a:p>
            <a:pPr algn="l"/>
            <a:r>
              <a:rPr lang="en-US" sz="1500" dirty="0">
                <a:solidFill>
                  <a:srgbClr val="687985"/>
                </a:solidFill>
                <a:latin typeface="Aptos"/>
              </a:rPr>
              <a:t>Active footprint drops</a:t>
            </a:r>
            <a:endParaRPr lang="en-US" sz="1500"/>
          </a:p>
          <a:p>
            <a:pPr algn="l"/>
            <a:r>
              <a:rPr lang="en-US" sz="1400" dirty="0" b="1">
                <a:solidFill>
                  <a:srgbClr val="D44848"/>
                </a:solidFill>
                <a:latin typeface="Aptos"/>
              </a:rPr>
              <a:t>Installed payload does not</a:t>
            </a:r>
            <a:endParaRPr lang="en-US" sz="1400"/>
          </a:p>
        </p:txBody>
      </p:sp>
      <p:sp>
        <p:nvSpPr>
          <p:cNvPr id="12" name="Text 12"/>
          <p:cNvSpPr txBox="1"/>
          <p:nvPr/>
        </p:nvSpPr>
        <p:spPr>
          <a:xfrm>
            <a:off x="7754112" y="1389888"/>
            <a:ext cx="3529584" cy="345643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9B77"/>
            </a:solidFill>
          </a:ln>
        </p:spPr>
        <p:txBody>
          <a:bodyPr wrap="square" lIns="265176" rIns="265176" tIns="265176" bIns="265176" anchor="t"/>
          <a:lstStyle/>
          <a:p>
            <a:pPr algn="l"/>
            <a:r>
              <a:rPr lang="en-US" sz="1100" dirty="0" b="1">
                <a:solidFill>
                  <a:srgbClr val="009B77"/>
                </a:solidFill>
                <a:latin typeface="Aptos"/>
              </a:rPr>
              <a:t>BUILD PERSONA</a:t>
            </a:r>
            <a:endParaRPr lang="en-US" sz="1100"/>
          </a:p>
          <a:p>
            <a:pPr algn="l"/>
            <a:r>
              <a:rPr lang="en-US" sz="1000" dirty="0" b="1">
                <a:solidFill>
                  <a:srgbClr val="687985"/>
                </a:solidFill>
                <a:latin typeface="Aptos"/>
              </a:rPr>
              <a:t>Sample persona</a:t>
            </a:r>
            <a:endParaRPr lang="en-US" sz="1000"/>
          </a:p>
          <a:p>
            <a:pPr algn="l"/>
            <a:r>
              <a:rPr lang="en-US" sz="1200" dirty="0" b="1">
                <a:solidFill>
                  <a:srgbClr val="08172F"/>
                </a:solidFill>
                <a:latin typeface="Aptos"/>
              </a:rPr>
              <a:t>l3-bgp-leaf-no-lag</a:t>
            </a:r>
            <a:endParaRPr lang="en-US" sz="1200"/>
          </a:p>
          <a:p>
            <a:pPr algn="l"/>
            <a:r>
              <a:rPr lang="en-US" sz="2700" dirty="0" b="1">
                <a:solidFill>
                  <a:srgbClr val="009B77"/>
                </a:solidFill>
                <a:latin typeface="Aptos"/>
              </a:rPr>
              <a:t>9 running</a:t>
            </a:r>
            <a:endParaRPr lang="en-US" sz="2700"/>
          </a:p>
          <a:p>
            <a:pPr algn="l"/>
            <a:r>
              <a:rPr lang="en-US" sz="2000" dirty="0" b="1">
                <a:solidFill>
                  <a:srgbClr val="34383D"/>
                </a:solidFill>
                <a:latin typeface="Aptos"/>
              </a:rPr>
              <a:t>19 Docker repos</a:t>
            </a:r>
            <a:endParaRPr lang="en-US" sz="2000"/>
          </a:p>
          <a:p>
            <a:pPr algn="l"/>
            <a:r>
              <a:rPr lang="en-US" sz="1300" dirty="0">
                <a:solidFill>
                  <a:srgbClr val="687985"/>
                </a:solidFill>
                <a:latin typeface="Aptos"/>
              </a:rPr>
              <a:t>Retains BGP + core services</a:t>
            </a:r>
            <a:endParaRPr lang="en-US" sz="1300"/>
          </a:p>
          <a:p>
            <a:pPr algn="l"/>
            <a:r>
              <a:rPr lang="en-US" sz="1400" dirty="0" b="1">
                <a:solidFill>
                  <a:srgbClr val="009B77"/>
                </a:solidFill>
                <a:latin typeface="Aptos"/>
              </a:rPr>
              <a:t>9 repositories physically absent</a:t>
            </a:r>
            <a:endParaRPr lang="en-US" sz="1400"/>
          </a:p>
          <a:p>
            <a:pPr algn="l"/>
            <a:r>
              <a:rPr lang="en-US" sz="1400" dirty="0" b="1">
                <a:solidFill>
                  <a:srgbClr val="34383D"/>
                </a:solidFill>
                <a:latin typeface="Aptos"/>
              </a:rPr>
              <a:t>Less dormant software to secure</a:t>
            </a:r>
            <a:endParaRPr lang="en-US" sz="1400"/>
          </a:p>
          <a:p>
            <a:pPr algn="l"/>
            <a:r>
              <a:rPr lang="en-US" sz="1100" dirty="0" b="1">
                <a:solidFill>
                  <a:srgbClr val="687985"/>
                </a:solidFill>
                <a:latin typeface="Aptos"/>
              </a:rPr>
              <a:t>This sample omits service images:</a:t>
            </a:r>
            <a:endParaRPr lang="en-US" sz="1100"/>
          </a:p>
          <a:p>
            <a:pPr algn="l"/>
            <a:r>
              <a:rPr lang="en-US" sz="1200" dirty="0">
                <a:solidFill>
                  <a:srgbClr val="34383D"/>
                </a:solidFill>
                <a:latin typeface="Aptos"/>
              </a:rPr>
              <a:t>gNMI • LLDP • SNMP • TEAMD</a:t>
            </a:r>
            <a:endParaRPr lang="en-US" sz="1200"/>
          </a:p>
        </p:txBody>
      </p:sp>
      <p:sp>
        <p:nvSpPr>
          <p:cNvPr id="13" name="Text 13"/>
          <p:cNvSpPr txBox="1"/>
          <p:nvPr/>
        </p:nvSpPr>
        <p:spPr>
          <a:xfrm>
            <a:off x="603504" y="5102352"/>
            <a:ext cx="10680192" cy="585216"/>
          </a:xfrm>
          <a:prstGeom prst="roundRect">
            <a:avLst/>
          </a:prstGeom>
          <a:solidFill>
            <a:srgbClr val="E4F2F7"/>
          </a:solidFill>
          <a:ln>
            <a:noFill/>
          </a:ln>
        </p:spPr>
        <p:txBody>
          <a:bodyPr wrap="square" lIns="128016" rIns="128016" tIns="128016" bIns="128016" anchor="ctr"/>
          <a:lstStyle/>
          <a:p>
            <a:pPr algn="ctr"/>
            <a:r>
              <a:rPr lang="en-US" sz="1700" dirty="0" b="1">
                <a:solidFill>
                  <a:srgbClr val="08172F"/>
                </a:solidFill>
                <a:latin typeface="Aptos"/>
              </a:rPr>
              <a:t>Runtime controls activity.  Build controls shipment.  One persona defines both.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SONiC template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2"/>
          <p:cNvSpPr txBox="1"/>
          <p:nvPr/>
        </p:nvSpPr>
        <p:spPr>
          <a:xfrm>
            <a:off x="502920" y="128016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dirty="0" b="1">
                <a:solidFill>
                  <a:srgbClr val="00B8D7"/>
                </a:solidFill>
                <a:latin typeface="Aptos"/>
              </a:rPr>
              <a:t>THE INNOVATION</a:t>
            </a:r>
            <a:endParaRPr lang="en-US" sz="900"/>
          </a:p>
        </p:txBody>
      </p:sp>
      <p:sp>
        <p:nvSpPr>
          <p:cNvPr id="3" name="Text 3"/>
          <p:cNvSpPr txBox="1"/>
          <p:nvPr/>
        </p:nvSpPr>
        <p:spPr>
          <a:xfrm>
            <a:off x="502920" y="384048"/>
            <a:ext cx="85496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300" dirty="0" b="1">
                <a:solidFill>
                  <a:srgbClr val="FFFFFF"/>
                </a:solidFill>
                <a:latin typeface="Aptos"/>
              </a:rPr>
              <a:t>One persona compiles into two operating models</a:t>
            </a:r>
            <a:endParaRPr lang="en-US" sz="2300"/>
          </a:p>
        </p:txBody>
      </p:sp>
      <p:sp>
        <p:nvSpPr>
          <p:cNvPr id="4" name="Text 4"/>
          <p:cNvSpPr txBox="1"/>
          <p:nvPr/>
        </p:nvSpPr>
        <p:spPr>
          <a:xfrm>
            <a:off x="8668512" y="146304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800" dirty="0" b="1">
                <a:solidFill>
                  <a:srgbClr val="FFFFFF"/>
                </a:solidFill>
                <a:latin typeface="Aptos"/>
              </a:rPr>
              <a:t>04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3026664" y="1280160"/>
            <a:ext cx="6126480" cy="1261872"/>
          </a:xfrm>
          <a:prstGeom prst="roundRect">
            <a:avLst/>
          </a:prstGeom>
          <a:solidFill>
            <a:srgbClr val="E4F2F7"/>
          </a:solidFill>
          <a:ln w="12700">
            <a:solidFill>
              <a:srgbClr val="00B8D7"/>
            </a:solidFill>
          </a:ln>
        </p:spPr>
        <p:txBody>
          <a:bodyPr wrap="square" lIns="201168" rIns="201168" tIns="201168" bIns="201168" anchor="ctr"/>
          <a:lstStyle/>
          <a:p>
            <a:pPr algn="ctr"/>
            <a:r>
              <a:rPr lang="en-US" sz="1000" dirty="0" b="1">
                <a:solidFill>
                  <a:srgbClr val="00B8D7"/>
                </a:solidFill>
                <a:latin typeface="Aptos"/>
              </a:rPr>
              <a:t>DECLARE ONCE</a:t>
            </a:r>
            <a:endParaRPr lang="en-US" sz="1000"/>
          </a:p>
          <a:p>
            <a:pPr algn="ctr"/>
            <a:r>
              <a:rPr lang="en-US" sz="2400" dirty="0" b="1">
                <a:solidFill>
                  <a:srgbClr val="34383D"/>
                </a:solidFill>
                <a:latin typeface="Aptos"/>
              </a:rPr>
              <a:t>Persona YAML</a:t>
            </a:r>
            <a:endParaRPr lang="en-US" sz="2400"/>
          </a:p>
          <a:p>
            <a:pPr algn="ctr"/>
            <a:r>
              <a:rPr lang="en-US" sz="1300" dirty="0">
                <a:solidFill>
                  <a:srgbClr val="687985"/>
                </a:solidFill>
                <a:latin typeface="Aptos"/>
              </a:rPr>
              <a:t>required / omit  •  feature state  •  FRR daemon policy  •  persistence intent</a:t>
            </a:r>
            <a:endParaRPr lang="en-US" sz="1300"/>
          </a:p>
        </p:txBody>
      </p:sp>
      <p:sp>
        <p:nvSpPr>
          <p:cNvPr id="11" name="Text 11"/>
          <p:cNvSpPr txBox="1"/>
          <p:nvPr/>
        </p:nvSpPr>
        <p:spPr>
          <a:xfrm>
            <a:off x="2578608" y="2468880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en-US" sz="2500" dirty="0" b="1">
                <a:solidFill>
                  <a:srgbClr val="009B77"/>
                </a:solidFill>
                <a:latin typeface="Aptos"/>
              </a:rPr>
              <a:t>↓</a:t>
            </a:r>
            <a:endParaRPr lang="en-US" sz="2500"/>
          </a:p>
        </p:txBody>
      </p:sp>
      <p:sp>
        <p:nvSpPr>
          <p:cNvPr id="12" name="Text 12"/>
          <p:cNvSpPr txBox="1"/>
          <p:nvPr/>
        </p:nvSpPr>
        <p:spPr>
          <a:xfrm>
            <a:off x="9079992" y="2468880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en-US" sz="2500" dirty="0" b="1">
                <a:solidFill>
                  <a:srgbClr val="198FD3"/>
                </a:solidFill>
                <a:latin typeface="Aptos"/>
              </a:rPr>
              <a:t>↓</a:t>
            </a:r>
            <a:endParaRPr lang="en-US" sz="2500"/>
          </a:p>
        </p:txBody>
      </p:sp>
      <p:sp>
        <p:nvSpPr>
          <p:cNvPr id="13" name="Text 13"/>
          <p:cNvSpPr txBox="1"/>
          <p:nvPr/>
        </p:nvSpPr>
        <p:spPr>
          <a:xfrm>
            <a:off x="603504" y="2834640"/>
            <a:ext cx="5074920" cy="245059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9B77"/>
            </a:solidFill>
          </a:ln>
        </p:spPr>
        <p:txBody>
          <a:bodyPr wrap="square" lIns="246888" rIns="246888" tIns="246888" bIns="246888" anchor="t"/>
          <a:lstStyle/>
          <a:p>
            <a:pPr algn="l"/>
            <a:r>
              <a:rPr lang="en-US" sz="1100" dirty="0" b="1">
                <a:solidFill>
                  <a:srgbClr val="009B77"/>
                </a:solidFill>
                <a:latin typeface="Aptos"/>
              </a:rPr>
              <a:t>BUILD PATH • NEW PROFILE OPTION</a:t>
            </a:r>
            <a:endParaRPr lang="en-US" sz="1100"/>
          </a:p>
          <a:p>
            <a:pPr algn="l"/>
            <a:r>
              <a:rPr lang="en-US" sz="2200" dirty="0" b="1">
                <a:solidFill>
                  <a:srgbClr val="34383D"/>
                </a:solidFill>
                <a:latin typeface="Aptos"/>
              </a:rPr>
              <a:t>Normal SONiC Make</a:t>
            </a:r>
            <a:endParaRPr lang="en-US" sz="2200"/>
          </a:p>
          <a:p>
            <a:pPr algn="l"/>
            <a:r>
              <a:rPr lang="en-US" sz="1100" dirty="0" b="1">
                <a:solidFill>
                  <a:srgbClr val="009B77"/>
                </a:solidFill>
                <a:latin typeface="Aptos"/>
              </a:rPr>
              <a:t>make PERSONAFORGE_PROFILE=l3-bgp-leaf-no-lag \</a:t>
            </a:r>
            <a:endParaRPr lang="en-US" sz="1100"/>
          </a:p>
          <a:p>
            <a:pPr algn="l"/>
            <a:r>
              <a:rPr lang="en-US" sz="1100" dirty="0" b="1">
                <a:solidFill>
                  <a:srgbClr val="009B77"/>
                </a:solidFill>
                <a:latin typeface="Aptos"/>
              </a:rPr>
              <a:t>    target/sonic-broadcom.bin</a:t>
            </a:r>
            <a:endParaRPr lang="en-US" sz="1100"/>
          </a:p>
          <a:p>
            <a:pPr algn="l"/>
            <a:r>
              <a:rPr lang="en-US" sz="1200" dirty="0">
                <a:solidFill>
                  <a:srgbClr val="34383D"/>
                </a:solidFill>
                <a:latin typeface="Aptos"/>
              </a:rPr>
              <a:t>Profile selects composition; target stays standard</a:t>
            </a:r>
            <a:endParaRPr lang="en-US" sz="1200"/>
          </a:p>
          <a:p>
            <a:pPr algn="l"/>
            <a:r>
              <a:rPr lang="en-US" sz="1200" dirty="0">
                <a:solidFill>
                  <a:srgbClr val="687985"/>
                </a:solidFill>
                <a:latin typeface="Aptos"/>
              </a:rPr>
              <a:t>No profile selected: normal SONiC build</a:t>
            </a:r>
            <a:endParaRPr lang="en-US" sz="1200"/>
          </a:p>
        </p:txBody>
      </p:sp>
      <p:sp>
        <p:nvSpPr>
          <p:cNvPr id="14" name="Text 14"/>
          <p:cNvSpPr txBox="1"/>
          <p:nvPr/>
        </p:nvSpPr>
        <p:spPr>
          <a:xfrm>
            <a:off x="6190488" y="2834640"/>
            <a:ext cx="5093208" cy="245059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198FD3"/>
            </a:solidFill>
          </a:ln>
        </p:spPr>
        <p:txBody>
          <a:bodyPr wrap="square" lIns="0" rIns="0" tIns="0" bIns="0" anchor="t"/>
          <a:lstStyle/>
        </p:txBody>
      </p:sp>
      <p:sp>
        <p:nvSpPr>
          <p:cNvPr id="16" name="Text 16"/>
          <p:cNvSpPr txBox="1"/>
          <p:nvPr/>
        </p:nvSpPr>
        <p:spPr>
          <a:xfrm>
            <a:off x="6437376" y="3054096"/>
            <a:ext cx="45902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100" dirty="0" b="1">
                <a:solidFill>
                  <a:srgbClr val="198FD3"/>
                </a:solidFill>
                <a:latin typeface="Aptos"/>
              </a:rPr>
              <a:t>RUNTIME PATH • IMPLEMENTED</a:t>
            </a:r>
            <a:endParaRPr lang="en-US" sz="1100"/>
          </a:p>
        </p:txBody>
      </p:sp>
      <p:sp>
        <p:nvSpPr>
          <p:cNvPr id="17" name="Text 17"/>
          <p:cNvSpPr txBox="1"/>
          <p:nvPr/>
        </p:nvSpPr>
        <p:spPr>
          <a:xfrm>
            <a:off x="6437376" y="3282696"/>
            <a:ext cx="4590288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200" dirty="0" b="1">
                <a:solidFill>
                  <a:srgbClr val="34383D"/>
                </a:solidFill>
                <a:latin typeface="Aptos"/>
              </a:rPr>
              <a:t>Native SONiC CLI</a:t>
            </a:r>
            <a:endParaRPr lang="en-US" sz="2200"/>
          </a:p>
        </p:txBody>
      </p:sp>
      <p:sp>
        <p:nvSpPr>
          <p:cNvPr id="18" name="Text 18"/>
          <p:cNvSpPr txBox="1"/>
          <p:nvPr/>
        </p:nvSpPr>
        <p:spPr>
          <a:xfrm>
            <a:off x="6437376" y="3703320"/>
            <a:ext cx="4599432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00" dirty="0">
                <a:solidFill>
                  <a:srgbClr val="687985"/>
                </a:solidFill>
                <a:latin typeface="Consolas"/>
              </a:rPr>
              <a:t>PF_PROFILE=l3-bgp-leaf-no-lag</a:t>
            </a:r>
            <a:endParaRPr lang="en-US" sz="1000"/>
          </a:p>
          <a:p>
            <a:pPr algn="l"/>
            <a:r>
              <a:rPr lang="en-US" sz="1100" dirty="0">
                <a:solidFill>
                  <a:srgbClr val="08172F"/>
                </a:solidFill>
                <a:latin typeface="Consolas"/>
              </a:rPr>
              <a:t>show personaforge plan "$PF_PROFILE"</a:t>
            </a:r>
            <a:endParaRPr lang="en-US" sz="1100"/>
          </a:p>
          <a:p>
            <a:pPr algn="l"/>
            <a:r>
              <a:rPr lang="en-US" sz="1100" dirty="0" b="1">
                <a:solidFill>
                  <a:srgbClr val="198FD3"/>
                </a:solidFill>
                <a:latin typeface="Consolas"/>
              </a:rPr>
              <a:t>sudo config personaforge apply "$PF_PROFILE" \</a:t>
            </a:r>
            <a:endParaRPr lang="en-US" sz="1100"/>
          </a:p>
          <a:p>
            <a:pPr algn="l"/>
            <a:r>
              <a:rPr lang="en-US" sz="1100" dirty="0">
                <a:solidFill>
                  <a:srgbClr val="198FD3"/>
                </a:solidFill>
                <a:latin typeface="Consolas"/>
              </a:rPr>
              <a:t>  --persist --allow-disruptive -y</a:t>
            </a:r>
            <a:endParaRPr lang="en-US" sz="1100"/>
          </a:p>
          <a:p>
            <a:pPr algn="l"/>
            <a:r>
              <a:rPr lang="en-US" sz="1100" dirty="0">
                <a:solidFill>
                  <a:srgbClr val="08172F"/>
                </a:solidFill>
                <a:latin typeface="Consolas"/>
              </a:rPr>
              <a:t>show personaforge status --detail</a:t>
            </a:r>
            <a:endParaRPr lang="en-US" sz="1100"/>
          </a:p>
          <a:p>
            <a:pPr algn="l"/>
            <a:r>
              <a:rPr lang="en-US" sz="1100" dirty="0">
                <a:solidFill>
                  <a:srgbClr val="08172F"/>
                </a:solidFill>
                <a:latin typeface="Consolas"/>
              </a:rPr>
              <a:t>show personaforge drift</a:t>
            </a:r>
            <a:endParaRPr lang="en-US" sz="1100"/>
          </a:p>
        </p:txBody>
      </p:sp>
      <p:sp>
        <p:nvSpPr>
          <p:cNvPr id="19" name="Text 19"/>
          <p:cNvSpPr txBox="1"/>
          <p:nvPr/>
        </p:nvSpPr>
        <p:spPr>
          <a:xfrm>
            <a:off x="6437376" y="4983480"/>
            <a:ext cx="459028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200" dirty="0" b="1">
                <a:solidFill>
                  <a:srgbClr val="009B77"/>
                </a:solidFill>
                <a:latin typeface="Aptos"/>
              </a:rPr>
              <a:t>Persists across node + container restarts</a:t>
            </a:r>
            <a:endParaRPr lang="en-US" sz="1200"/>
          </a:p>
        </p:txBody>
      </p:sp>
      <p:sp>
        <p:nvSpPr>
          <p:cNvPr id="15" name="Text 15"/>
          <p:cNvSpPr txBox="1"/>
          <p:nvPr/>
        </p:nvSpPr>
        <p:spPr>
          <a:xfrm>
            <a:off x="603504" y="5477256"/>
            <a:ext cx="10680192" cy="713232"/>
          </a:xfrm>
          <a:prstGeom prst="roundRect">
            <a:avLst/>
          </a:prstGeom>
          <a:solidFill>
            <a:srgbClr val="E4F2F7"/>
          </a:solidFill>
          <a:ln>
            <a:noFill/>
          </a:ln>
        </p:spPr>
        <p:txBody>
          <a:bodyPr wrap="square" lIns="109728" rIns="109728" tIns="109728" bIns="109728" anchor="ctr"/>
          <a:lstStyle/>
          <a:p>
            <a:pPr algn="ctr"/>
            <a:r>
              <a:rPr lang="en-US" sz="1400" dirty="0" b="1">
                <a:solidFill>
                  <a:srgbClr val="08172F"/>
                </a:solidFill>
                <a:latin typeface="Aptos"/>
              </a:rPr>
              <a:t>Safety: schema + conflict checks • protected core • explicit disruption authorization</a:t>
            </a:r>
            <a:endParaRPr lang="en-US" sz="1400"/>
          </a:p>
          <a:p>
            <a:pPr algn="ctr"/>
            <a:r>
              <a:rPr lang="en-US" sz="1200" dirty="0" b="1">
                <a:solidFill>
                  <a:srgbClr val="198FD3"/>
                </a:solidFill>
                <a:latin typeface="Aptos"/>
              </a:rPr>
              <a:t>Add personas through YAML • reusable, platform-independent contract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SONiC template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2"/>
          <p:cNvSpPr txBox="1"/>
          <p:nvPr/>
        </p:nvSpPr>
        <p:spPr>
          <a:xfrm>
            <a:off x="502920" y="128016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dirty="0" b="1">
                <a:solidFill>
                  <a:srgbClr val="00B8D7"/>
                </a:solidFill>
                <a:latin typeface="Aptos"/>
              </a:rPr>
              <a:t>MEASURED FOOTPRINT + SECURITY VALUE</a:t>
            </a:r>
            <a:endParaRPr lang="en-US" sz="900"/>
          </a:p>
        </p:txBody>
      </p:sp>
      <p:sp>
        <p:nvSpPr>
          <p:cNvPr id="3" name="Text 3"/>
          <p:cNvSpPr txBox="1"/>
          <p:nvPr/>
        </p:nvSpPr>
        <p:spPr>
          <a:xfrm>
            <a:off x="502920" y="384048"/>
            <a:ext cx="85496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300" dirty="0" b="1">
                <a:solidFill>
                  <a:srgbClr val="FFFFFF"/>
                </a:solidFill>
                <a:latin typeface="Aptos"/>
              </a:rPr>
              <a:t>Smaller footprint. Less software exposure.</a:t>
            </a:r>
            <a:endParaRPr lang="en-US" sz="2300"/>
          </a:p>
        </p:txBody>
      </p:sp>
      <p:sp>
        <p:nvSpPr>
          <p:cNvPr id="4" name="Text 4"/>
          <p:cNvSpPr txBox="1"/>
          <p:nvPr/>
        </p:nvSpPr>
        <p:spPr>
          <a:xfrm>
            <a:off x="8668512" y="146304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800" dirty="0" b="1">
                <a:solidFill>
                  <a:srgbClr val="FFFFFF"/>
                </a:solidFill>
                <a:latin typeface="Aptos"/>
              </a:rPr>
              <a:t>05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603504" y="1307592"/>
            <a:ext cx="1664208" cy="1481328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9B77"/>
            </a:solidFill>
          </a:ln>
        </p:spPr>
        <p:txBody>
          <a:bodyPr wrap="square" lIns="164592" rIns="164592" tIns="164592" bIns="164592" anchor="ctr"/>
          <a:lstStyle/>
          <a:p>
            <a:pPr algn="ctr"/>
            <a:r>
              <a:rPr lang="en-US" sz="2400" dirty="0" b="1">
                <a:solidFill>
                  <a:srgbClr val="009B77"/>
                </a:solidFill>
                <a:latin typeface="Aptos"/>
              </a:rPr>
              <a:t>7.1%</a:t>
            </a:r>
            <a:endParaRPr lang="en-US" sz="2400"/>
          </a:p>
          <a:p>
            <a:pPr algn="ctr"/>
            <a:r>
              <a:rPr lang="en-US" sz="1200" dirty="0" b="1">
                <a:solidFill>
                  <a:srgbClr val="34383D"/>
                </a:solidFill>
                <a:latin typeface="Aptos"/>
              </a:rPr>
              <a:t>smaller installer</a:t>
            </a:r>
            <a:endParaRPr lang="en-US" sz="1200"/>
          </a:p>
          <a:p>
            <a:pPr algn="ctr"/>
            <a:r>
              <a:rPr lang="en-US" sz="1000" dirty="0">
                <a:solidFill>
                  <a:srgbClr val="687985"/>
                </a:solidFill>
                <a:latin typeface="Aptos"/>
              </a:rPr>
              <a:t>80.9 MB removed</a:t>
            </a:r>
            <a:endParaRPr lang="en-US" sz="1000"/>
          </a:p>
        </p:txBody>
      </p:sp>
      <p:sp>
        <p:nvSpPr>
          <p:cNvPr id="11" name="Text 11"/>
          <p:cNvSpPr txBox="1"/>
          <p:nvPr/>
        </p:nvSpPr>
        <p:spPr>
          <a:xfrm>
            <a:off x="2395728" y="1307592"/>
            <a:ext cx="1664208" cy="1481328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9B77"/>
            </a:solidFill>
          </a:ln>
        </p:spPr>
        <p:txBody>
          <a:bodyPr wrap="square" lIns="164592" rIns="164592" tIns="164592" bIns="164592" anchor="ctr"/>
          <a:lstStyle/>
          <a:p>
            <a:pPr algn="ctr"/>
            <a:r>
              <a:rPr lang="en-US" sz="2400" dirty="0" b="1">
                <a:solidFill>
                  <a:srgbClr val="009B77"/>
                </a:solidFill>
                <a:latin typeface="Aptos"/>
              </a:rPr>
              <a:t>10.0%</a:t>
            </a:r>
            <a:endParaRPr lang="en-US" sz="2400"/>
          </a:p>
          <a:p>
            <a:pPr algn="ctr"/>
            <a:r>
              <a:rPr lang="en-US" sz="1200" dirty="0" b="1">
                <a:solidFill>
                  <a:srgbClr val="34383D"/>
                </a:solidFill>
                <a:latin typeface="Aptos"/>
              </a:rPr>
              <a:t>smaller installed</a:t>
            </a:r>
            <a:endParaRPr lang="en-US" sz="1200"/>
          </a:p>
          <a:p>
            <a:pPr algn="ctr"/>
            <a:r>
              <a:rPr lang="en-US" sz="1000" dirty="0">
                <a:solidFill>
                  <a:srgbClr val="687985"/>
                </a:solidFill>
                <a:latin typeface="Aptos"/>
              </a:rPr>
              <a:t>283.3 MB removed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4187952" y="1307592"/>
            <a:ext cx="1664208" cy="1481328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9B77"/>
            </a:solidFill>
          </a:ln>
        </p:spPr>
        <p:txBody>
          <a:bodyPr wrap="square" lIns="164592" rIns="164592" tIns="164592" bIns="164592" anchor="ctr"/>
          <a:lstStyle/>
          <a:p>
            <a:pPr algn="ctr"/>
            <a:r>
              <a:rPr lang="en-US" sz="2400" dirty="0" b="1">
                <a:solidFill>
                  <a:srgbClr val="009B77"/>
                </a:solidFill>
                <a:latin typeface="Aptos"/>
              </a:rPr>
              <a:t>32.1%</a:t>
            </a:r>
            <a:endParaRPr lang="en-US" sz="2400"/>
          </a:p>
          <a:p>
            <a:pPr algn="ctr"/>
            <a:r>
              <a:rPr lang="en-US" sz="1200" dirty="0" b="1">
                <a:solidFill>
                  <a:srgbClr val="34383D"/>
                </a:solidFill>
                <a:latin typeface="Aptos"/>
              </a:rPr>
              <a:t>fewer Docker repos</a:t>
            </a:r>
            <a:endParaRPr lang="en-US" sz="1200"/>
          </a:p>
          <a:p>
            <a:pPr algn="ctr"/>
            <a:r>
              <a:rPr lang="en-US" sz="1000" dirty="0">
                <a:solidFill>
                  <a:srgbClr val="687985"/>
                </a:solidFill>
                <a:latin typeface="Aptos"/>
              </a:rPr>
              <a:t>28 → 19</a:t>
            </a:r>
            <a:endParaRPr lang="en-US" sz="1000"/>
          </a:p>
        </p:txBody>
      </p:sp>
      <p:sp>
        <p:nvSpPr>
          <p:cNvPr id="13" name="Text 13"/>
          <p:cNvSpPr txBox="1"/>
          <p:nvPr/>
        </p:nvSpPr>
        <p:spPr>
          <a:xfrm>
            <a:off x="5980176" y="1307592"/>
            <a:ext cx="1664208" cy="1481328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9B77"/>
            </a:solidFill>
          </a:ln>
        </p:spPr>
        <p:txBody>
          <a:bodyPr wrap="square" lIns="164592" rIns="164592" tIns="164592" bIns="164592" anchor="ctr"/>
          <a:lstStyle/>
          <a:p>
            <a:pPr algn="ctr"/>
            <a:r>
              <a:rPr lang="en-US" sz="2400" dirty="0" b="1">
                <a:solidFill>
                  <a:srgbClr val="009B77"/>
                </a:solidFill>
                <a:latin typeface="Aptos"/>
              </a:rPr>
              <a:t>17.6%</a:t>
            </a:r>
            <a:endParaRPr lang="en-US" sz="2400"/>
          </a:p>
          <a:p>
            <a:pPr algn="ctr"/>
            <a:r>
              <a:rPr lang="en-US" sz="1200" dirty="0" b="1">
                <a:solidFill>
                  <a:srgbClr val="34383D"/>
                </a:solidFill>
                <a:latin typeface="Aptos"/>
              </a:rPr>
              <a:t>fewer Docker files</a:t>
            </a:r>
            <a:endParaRPr lang="en-US" sz="1200"/>
          </a:p>
          <a:p>
            <a:pPr algn="ctr"/>
            <a:r>
              <a:rPr lang="en-US" sz="1000" dirty="0">
                <a:solidFill>
                  <a:srgbClr val="687985"/>
                </a:solidFill>
                <a:latin typeface="Aptos"/>
              </a:rPr>
              <a:t>29,579 → 24,361</a:t>
            </a:r>
            <a:endParaRPr lang="en-US" sz="1000"/>
          </a:p>
        </p:txBody>
      </p:sp>
      <p:sp>
        <p:nvSpPr>
          <p:cNvPr id="14" name="Text 14"/>
          <p:cNvSpPr txBox="1"/>
          <p:nvPr/>
        </p:nvSpPr>
        <p:spPr>
          <a:xfrm>
            <a:off x="603504" y="3026664"/>
            <a:ext cx="7040880" cy="1554480"/>
          </a:xfrm>
          <a:prstGeom prst="roundRect">
            <a:avLst/>
          </a:prstGeom>
          <a:solidFill>
            <a:srgbClr val="E4F2F7"/>
          </a:solidFill>
          <a:ln>
            <a:noFill/>
          </a:ln>
        </p:spPr>
        <p:txBody>
          <a:bodyPr wrap="square" lIns="210312" rIns="210312" tIns="210312" bIns="210312" anchor="t"/>
          <a:lstStyle/>
          <a:p>
            <a:pPr algn="l"/>
            <a:r>
              <a:rPr lang="en-US" sz="1100" dirty="0" b="1">
                <a:solidFill>
                  <a:srgbClr val="009B77"/>
                </a:solidFill>
                <a:latin typeface="Aptos"/>
              </a:rPr>
              <a:t>SECURITY THROUGH LEAST FUNCTIONALITY</a:t>
            </a:r>
            <a:endParaRPr lang="en-US" sz="1100"/>
          </a:p>
          <a:p>
            <a:pPr algn="l"/>
            <a:r>
              <a:rPr lang="en-US" sz="2000" dirty="0" b="1">
                <a:solidFill>
                  <a:srgbClr val="34383D"/>
                </a:solidFill>
                <a:latin typeface="Aptos"/>
              </a:rPr>
              <a:t>Fewer components. Less potential exposure.</a:t>
            </a:r>
            <a:endParaRPr lang="en-US" sz="2000"/>
          </a:p>
          <a:p>
            <a:pPr algn="l"/>
            <a:r>
              <a:rPr lang="en-US" sz="1300" dirty="0" b="1">
                <a:solidFill>
                  <a:srgbClr val="009B77"/>
                </a:solidFill>
                <a:latin typeface="Aptos"/>
              </a:rPr>
              <a:t>9 repositories absent: less software to scan and maintain</a:t>
            </a:r>
            <a:endParaRPr lang="en-US" sz="1300"/>
          </a:p>
          <a:p>
            <a:pPr algn="l"/>
            <a:r>
              <a:rPr lang="en-US" sz="1300" dirty="0">
                <a:solidFill>
                  <a:srgbClr val="687985"/>
                </a:solidFill>
                <a:latin typeface="Aptos"/>
              </a:rPr>
              <a:t>Omitted containers require reinstallation to run</a:t>
            </a:r>
            <a:endParaRPr lang="en-US" sz="1300"/>
          </a:p>
          <a:p>
            <a:pPr algn="l"/>
            <a:r>
              <a:rPr lang="en-US" sz="1000" dirty="0">
                <a:solidFill>
                  <a:srgbClr val="687985"/>
                </a:solidFill>
                <a:latin typeface="Aptos"/>
              </a:rPr>
              <a:t>Repository reduction measured; CVE reduction not yet measured</a:t>
            </a:r>
            <a:endParaRPr lang="en-US" sz="1000"/>
          </a:p>
        </p:txBody>
      </p:sp>
      <p:sp>
        <p:nvSpPr>
          <p:cNvPr id="15" name="Text 15"/>
          <p:cNvSpPr txBox="1"/>
          <p:nvPr/>
        </p:nvSpPr>
        <p:spPr>
          <a:xfrm>
            <a:off x="7909560" y="1307592"/>
            <a:ext cx="3383280" cy="327355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B8D7"/>
            </a:solidFill>
          </a:ln>
        </p:spPr>
        <p:txBody>
          <a:bodyPr wrap="square" lIns="164592" rIns="164592" tIns="164592" bIns="164592" anchor="t"/>
          <a:lstStyle/>
          <a:p>
            <a:pPr algn="l"/>
            <a:r>
              <a:rPr lang="en-US" sz="100" dirty="0">
                <a:solidFill>
                  <a:srgbClr val="FFFFFF"/>
                </a:solidFill>
                <a:latin typeface="Aptos"/>
              </a:rPr>
              <a:t/>
            </a:r>
            <a:endParaRPr lang="en-US" sz="100"/>
          </a:p>
        </p:txBody>
      </p:sp>
      <p:sp>
        <p:nvSpPr>
          <p:cNvPr id="16" name="Text 16"/>
          <p:cNvSpPr txBox="1"/>
          <p:nvPr/>
        </p:nvSpPr>
        <p:spPr>
          <a:xfrm>
            <a:off x="8147304" y="1527048"/>
            <a:ext cx="2907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1100" dirty="0" b="1">
                <a:solidFill>
                  <a:srgbClr val="00B8D7"/>
                </a:solidFill>
                <a:latin typeface="Aptos"/>
              </a:rPr>
              <a:t>RUNNING vs INSTALLED</a:t>
            </a:r>
            <a:endParaRPr lang="en-US" sz="1100"/>
          </a:p>
        </p:txBody>
      </p:sp>
      <p:sp>
        <p:nvSpPr>
          <p:cNvPr id="17" name="Text 17"/>
          <p:cNvSpPr txBox="1"/>
          <p:nvPr/>
        </p:nvSpPr>
        <p:spPr>
          <a:xfrm>
            <a:off x="9052560" y="1938528"/>
            <a:ext cx="621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900" dirty="0" b="1">
                <a:solidFill>
                  <a:srgbClr val="687985"/>
                </a:solidFill>
                <a:latin typeface="Aptos"/>
              </a:rPr>
              <a:t>FULL</a:t>
            </a:r>
            <a:endParaRPr lang="en-US" sz="900"/>
          </a:p>
        </p:txBody>
      </p:sp>
      <p:sp>
        <p:nvSpPr>
          <p:cNvPr id="18" name="Text 18"/>
          <p:cNvSpPr txBox="1"/>
          <p:nvPr/>
        </p:nvSpPr>
        <p:spPr>
          <a:xfrm>
            <a:off x="9692640" y="1865376"/>
            <a:ext cx="7680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900" dirty="0" b="1">
                <a:solidFill>
                  <a:srgbClr val="198FD3"/>
                </a:solidFill>
                <a:latin typeface="Aptos"/>
              </a:rPr>
              <a:t>FEATURE</a:t>
            </a:r>
            <a:endParaRPr lang="en-US" sz="900"/>
          </a:p>
          <a:p>
            <a:pPr algn="ctr"/>
            <a:r>
              <a:rPr lang="en-US" sz="800" dirty="0" b="1">
                <a:solidFill>
                  <a:srgbClr val="198FD3"/>
                </a:solidFill>
                <a:latin typeface="Aptos"/>
              </a:rPr>
              <a:t>DISABLED</a:t>
            </a:r>
            <a:endParaRPr lang="en-US" sz="800"/>
          </a:p>
        </p:txBody>
      </p:sp>
      <p:sp>
        <p:nvSpPr>
          <p:cNvPr id="19" name="Text 19"/>
          <p:cNvSpPr txBox="1"/>
          <p:nvPr/>
        </p:nvSpPr>
        <p:spPr>
          <a:xfrm>
            <a:off x="10479024" y="1938528"/>
            <a:ext cx="621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900" dirty="0" b="1">
                <a:solidFill>
                  <a:srgbClr val="009B77"/>
                </a:solidFill>
                <a:latin typeface="Aptos"/>
              </a:rPr>
              <a:t>BUILD</a:t>
            </a:r>
            <a:endParaRPr lang="en-US" sz="900"/>
          </a:p>
        </p:txBody>
      </p:sp>
      <p:sp>
        <p:nvSpPr>
          <p:cNvPr id="20" name="Text 20"/>
          <p:cNvSpPr txBox="1"/>
          <p:nvPr/>
        </p:nvSpPr>
        <p:spPr>
          <a:xfrm>
            <a:off x="8138160" y="2331720"/>
            <a:ext cx="877824" cy="4937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00" dirty="0" b="1">
                <a:solidFill>
                  <a:srgbClr val="34383D"/>
                </a:solidFill>
                <a:latin typeface="Aptos"/>
              </a:rPr>
              <a:t>Running</a:t>
            </a:r>
            <a:endParaRPr lang="en-US" sz="1000"/>
          </a:p>
          <a:p>
            <a:pPr algn="l"/>
            <a:r>
              <a:rPr lang="en-US" sz="900" dirty="0">
                <a:solidFill>
                  <a:srgbClr val="687985"/>
                </a:solidFill>
                <a:latin typeface="Aptos"/>
              </a:rPr>
              <a:t>containers</a:t>
            </a:r>
            <a:endParaRPr lang="en-US" sz="900"/>
          </a:p>
        </p:txBody>
      </p:sp>
      <p:sp>
        <p:nvSpPr>
          <p:cNvPr id="24" name="Text 24"/>
          <p:cNvSpPr txBox="1"/>
          <p:nvPr/>
        </p:nvSpPr>
        <p:spPr>
          <a:xfrm>
            <a:off x="8138160" y="2834640"/>
            <a:ext cx="877824" cy="4937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00" dirty="0" b="1">
                <a:solidFill>
                  <a:srgbClr val="34383D"/>
                </a:solidFill>
                <a:latin typeface="Aptos"/>
              </a:rPr>
              <a:t>Installed</a:t>
            </a:r>
            <a:endParaRPr lang="en-US" sz="1000"/>
          </a:p>
          <a:p>
            <a:pPr algn="l"/>
            <a:r>
              <a:rPr lang="en-US" sz="800" dirty="0">
                <a:solidFill>
                  <a:srgbClr val="687985"/>
                </a:solidFill>
                <a:latin typeface="Aptos"/>
              </a:rPr>
              <a:t>Docker repos</a:t>
            </a:r>
            <a:endParaRPr lang="en-US" sz="800"/>
          </a:p>
        </p:txBody>
      </p:sp>
      <p:sp>
        <p:nvSpPr>
          <p:cNvPr id="25" name="Text 25"/>
          <p:cNvSpPr txBox="1"/>
          <p:nvPr/>
        </p:nvSpPr>
        <p:spPr>
          <a:xfrm>
            <a:off x="9052560" y="2331720"/>
            <a:ext cx="621792" cy="4297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2200" dirty="0" b="1">
                <a:solidFill>
                  <a:srgbClr val="34383D"/>
                </a:solidFill>
                <a:latin typeface="Aptos"/>
              </a:rPr>
              <a:t>13</a:t>
            </a:r>
            <a:endParaRPr lang="en-US" sz="2200"/>
          </a:p>
        </p:txBody>
      </p:sp>
      <p:sp>
        <p:nvSpPr>
          <p:cNvPr id="26" name="Text 26"/>
          <p:cNvSpPr txBox="1"/>
          <p:nvPr/>
        </p:nvSpPr>
        <p:spPr>
          <a:xfrm>
            <a:off x="9692640" y="2331720"/>
            <a:ext cx="7680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2200" dirty="0" b="1">
                <a:solidFill>
                  <a:srgbClr val="198FD3"/>
                </a:solidFill>
                <a:latin typeface="Aptos"/>
              </a:rPr>
              <a:t>9</a:t>
            </a:r>
            <a:endParaRPr lang="en-US" sz="2200"/>
          </a:p>
        </p:txBody>
      </p:sp>
      <p:sp>
        <p:nvSpPr>
          <p:cNvPr id="27" name="Text 27"/>
          <p:cNvSpPr txBox="1"/>
          <p:nvPr/>
        </p:nvSpPr>
        <p:spPr>
          <a:xfrm>
            <a:off x="10479024" y="2331720"/>
            <a:ext cx="621792" cy="4297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2200" dirty="0" b="1">
                <a:solidFill>
                  <a:srgbClr val="009B77"/>
                </a:solidFill>
                <a:latin typeface="Aptos"/>
              </a:rPr>
              <a:t>9</a:t>
            </a:r>
            <a:endParaRPr lang="en-US" sz="2200"/>
          </a:p>
        </p:txBody>
      </p:sp>
      <p:sp>
        <p:nvSpPr>
          <p:cNvPr id="28" name="Text 28"/>
          <p:cNvSpPr txBox="1"/>
          <p:nvPr/>
        </p:nvSpPr>
        <p:spPr>
          <a:xfrm>
            <a:off x="9052560" y="2834640"/>
            <a:ext cx="621792" cy="4297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2200" dirty="0" b="1">
                <a:solidFill>
                  <a:srgbClr val="34383D"/>
                </a:solidFill>
                <a:latin typeface="Aptos"/>
              </a:rPr>
              <a:t>28</a:t>
            </a:r>
            <a:endParaRPr lang="en-US" sz="2200"/>
          </a:p>
        </p:txBody>
      </p:sp>
      <p:sp>
        <p:nvSpPr>
          <p:cNvPr id="29" name="Text 29"/>
          <p:cNvSpPr txBox="1"/>
          <p:nvPr/>
        </p:nvSpPr>
        <p:spPr>
          <a:xfrm>
            <a:off x="9692640" y="2834640"/>
            <a:ext cx="7680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2200" dirty="0" b="1">
                <a:solidFill>
                  <a:srgbClr val="198FD3"/>
                </a:solidFill>
                <a:latin typeface="Aptos"/>
              </a:rPr>
              <a:t>28</a:t>
            </a:r>
            <a:endParaRPr lang="en-US" sz="2200"/>
          </a:p>
        </p:txBody>
      </p:sp>
      <p:sp>
        <p:nvSpPr>
          <p:cNvPr id="30" name="Text 30"/>
          <p:cNvSpPr txBox="1"/>
          <p:nvPr/>
        </p:nvSpPr>
        <p:spPr>
          <a:xfrm>
            <a:off x="10479024" y="2834640"/>
            <a:ext cx="621792" cy="4297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2200" dirty="0" b="1">
                <a:solidFill>
                  <a:srgbClr val="009B77"/>
                </a:solidFill>
                <a:latin typeface="Aptos"/>
              </a:rPr>
              <a:t>19</a:t>
            </a:r>
            <a:endParaRPr lang="en-US" sz="2200"/>
          </a:p>
        </p:txBody>
      </p:sp>
      <p:sp>
        <p:nvSpPr>
          <p:cNvPr id="23" name="Text 23"/>
          <p:cNvSpPr txBox="1"/>
          <p:nvPr/>
        </p:nvSpPr>
        <p:spPr>
          <a:xfrm>
            <a:off x="8092440" y="3438144"/>
            <a:ext cx="3017520" cy="576072"/>
          </a:xfrm>
          <a:prstGeom prst="roundRect">
            <a:avLst/>
          </a:prstGeom>
          <a:solidFill>
            <a:srgbClr val="E4F2F7"/>
          </a:solidFill>
          <a:ln>
            <a:noFill/>
          </a:ln>
        </p:spPr>
        <p:txBody>
          <a:bodyPr wrap="square" lIns="64008" rIns="64008" tIns="64008" bIns="64008" anchor="ctr"/>
          <a:lstStyle/>
          <a:p>
            <a:pPr algn="ctr"/>
            <a:r>
              <a:rPr lang="en-US" sz="1000" dirty="0" b="1">
                <a:solidFill>
                  <a:srgbClr val="08172F"/>
                </a:solidFill>
                <a:latin typeface="Aptos"/>
              </a:rPr>
              <a:t>13 → 9: FOUR SERVICES</a:t>
            </a:r>
            <a:endParaRPr lang="en-US" sz="1000"/>
          </a:p>
          <a:p>
            <a:pPr algn="ctr"/>
            <a:r>
              <a:rPr lang="en-US" sz="1200" dirty="0" b="1">
                <a:solidFill>
                  <a:srgbClr val="198FD3"/>
                </a:solidFill>
                <a:latin typeface="Aptos"/>
              </a:rPr>
              <a:t>gnmi • lldp • snmp • teamd</a:t>
            </a:r>
            <a:endParaRPr lang="en-US" sz="1200"/>
          </a:p>
        </p:txBody>
      </p:sp>
      <p:sp>
        <p:nvSpPr>
          <p:cNvPr id="21" name="Text 21"/>
          <p:cNvSpPr txBox="1"/>
          <p:nvPr/>
        </p:nvSpPr>
        <p:spPr>
          <a:xfrm>
            <a:off x="8101583" y="4133087"/>
            <a:ext cx="29992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1000" dirty="0" b="1">
                <a:solidFill>
                  <a:srgbClr val="198FD3"/>
                </a:solidFill>
                <a:latin typeface="Aptos"/>
              </a:rPr>
              <a:t>FEATURE: services stopped</a:t>
            </a:r>
            <a:endParaRPr lang="en-US" sz="1000"/>
          </a:p>
          <a:p>
            <a:pPr algn="ctr"/>
            <a:r>
              <a:rPr lang="en-US" sz="900" dirty="0" b="1">
                <a:solidFill>
                  <a:srgbClr val="009B77"/>
                </a:solidFill>
                <a:latin typeface="Aptos"/>
              </a:rPr>
              <a:t>BUILD: their images + 5 dormant repos omitted</a:t>
            </a:r>
            <a:endParaRPr lang="en-US" sz="900"/>
          </a:p>
        </p:txBody>
      </p:sp>
      <p:sp>
        <p:nvSpPr>
          <p:cNvPr id="22" name="Text 22"/>
          <p:cNvSpPr txBox="1"/>
          <p:nvPr/>
        </p:nvSpPr>
        <p:spPr>
          <a:xfrm>
            <a:off x="603504" y="4901184"/>
            <a:ext cx="10680192" cy="896112"/>
          </a:xfrm>
          <a:prstGeom prst="roundRect">
            <a:avLst/>
          </a:prstGeom>
          <a:solidFill>
            <a:srgbClr val="E4F2F7"/>
          </a:solidFill>
          <a:ln>
            <a:noFill/>
          </a:ln>
        </p:spPr>
        <p:txBody>
          <a:bodyPr wrap="square" lIns="118872" rIns="118872" tIns="118872" bIns="118872" anchor="ctr"/>
          <a:lstStyle/>
          <a:p>
            <a:pPr algn="ctr"/>
            <a:r>
              <a:rPr lang="en-US" sz="1500" dirty="0" b="1">
                <a:solidFill>
                  <a:srgbClr val="08172F"/>
                </a:solidFill>
                <a:latin typeface="Aptos"/>
              </a:rPr>
              <a:t>SCALE PRESERVED  •  64 VRFs  •  4,096 routes  •  completion spread &lt;1%</a:t>
            </a:r>
            <a:endParaRPr lang="en-US" sz="1500"/>
          </a:p>
          <a:p>
            <a:pPr algn="ctr"/>
            <a:r>
              <a:rPr lang="en-US" sz="1000" dirty="0">
                <a:solidFill>
                  <a:srgbClr val="687985"/>
                </a:solidFill>
                <a:latin typeface="Aptos"/>
              </a:rPr>
              <a:t>Broadcom three-DUT study • all healthy after cleanup</a:t>
            </a:r>
            <a:endParaRPr lang="en-US" sz="1000"/>
          </a:p>
          <a:p>
            <a:pPr algn="ctr"/>
            <a:r>
              <a:rPr lang="en-US" sz="1000" dirty="0">
                <a:solidFill>
                  <a:srgbClr val="687985"/>
                </a:solidFill>
                <a:latin typeface="Aptos"/>
              </a:rPr>
              <a:t>Separate BFDD lifecycle validation • 50 automated product tests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SONiC template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2"/>
          <p:cNvSpPr txBox="1"/>
          <p:nvPr/>
        </p:nvSpPr>
        <p:spPr>
          <a:xfrm>
            <a:off x="502920" y="128016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dirty="0" b="1">
                <a:solidFill>
                  <a:srgbClr val="00B8D7"/>
                </a:solidFill>
                <a:latin typeface="Aptos"/>
              </a:rPr>
              <a:t>RECORDED DEMO</a:t>
            </a:r>
            <a:endParaRPr lang="en-US" sz="900"/>
          </a:p>
        </p:txBody>
      </p:sp>
      <p:sp>
        <p:nvSpPr>
          <p:cNvPr id="3" name="Text 3"/>
          <p:cNvSpPr txBox="1"/>
          <p:nvPr/>
        </p:nvSpPr>
        <p:spPr>
          <a:xfrm>
            <a:off x="502920" y="384048"/>
            <a:ext cx="85496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300" dirty="0" b="1">
                <a:solidFill>
                  <a:srgbClr val="FFFFFF"/>
                </a:solidFill>
                <a:latin typeface="Aptos"/>
              </a:rPr>
              <a:t>PersonaForge in action</a:t>
            </a:r>
            <a:endParaRPr lang="en-US" sz="2300"/>
          </a:p>
        </p:txBody>
      </p:sp>
      <p:sp>
        <p:nvSpPr>
          <p:cNvPr id="4" name="Text 4"/>
          <p:cNvSpPr txBox="1"/>
          <p:nvPr/>
        </p:nvSpPr>
        <p:spPr>
          <a:xfrm>
            <a:off x="8668512" y="146304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800" dirty="0" b="1">
                <a:solidFill>
                  <a:srgbClr val="FFFFFF"/>
                </a:solidFill>
                <a:latin typeface="Aptos"/>
              </a:rPr>
              <a:t>06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1709928" y="1344168"/>
            <a:ext cx="8778240" cy="4937760"/>
          </a:xfrm>
          <a:prstGeom prst="rect">
            <a:avLst/>
          </a:prstGeom>
          <a:solidFill>
            <a:srgbClr val="091A28"/>
          </a:solidFill>
          <a:ln w="12700">
            <a:solidFill>
              <a:srgbClr val="00B8D7"/>
            </a:solidFill>
          </a:ln>
        </p:spPr>
        <p:txBody>
          <a:bodyPr wrap="square" lIns="182880" rIns="182880" tIns="182880" bIns="182880" anchor="ctr"/>
          <a:lstStyle/>
          <a:p>
            <a:pPr algn="ctr"/>
            <a:r>
              <a:rPr lang="en-US" sz="2800" dirty="0" b="1">
                <a:solidFill>
                  <a:srgbClr val="FFFFFF"/>
                </a:solidFill>
                <a:latin typeface="Aptos"/>
              </a:rPr>
              <a:t>Demo video</a:t>
            </a:r>
            <a:endParaRPr lang="en-US" sz="2800"/>
          </a:p>
          <a:p>
            <a:pPr algn="ctr"/>
            <a:r>
              <a:rPr lang="en-US" sz="1600" dirty="0" b="1">
                <a:solidFill>
                  <a:srgbClr val="00B8D7"/>
                </a:solidFill>
                <a:latin typeface="Aptos"/>
              </a:rPr>
              <a:t>2 minutes 30 seconds</a:t>
            </a:r>
            <a:endParaRPr lang="en-US" sz="1600"/>
          </a:p>
          <a:p>
            <a:pPr algn="ctr"/>
            <a:r>
              <a:rPr lang="en-US" sz="1100" dirty="0">
                <a:solidFill>
                  <a:srgbClr val="A8BBC7"/>
                </a:solidFill>
                <a:latin typeface="Aptos"/>
              </a:rPr>
              <a:t>Recording to be inserted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SONiC template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2"/>
          <p:cNvSpPr txBox="1"/>
          <p:nvPr/>
        </p:nvSpPr>
        <p:spPr>
          <a:xfrm>
            <a:off x="502920" y="128016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900" dirty="0" b="1">
                <a:solidFill>
                  <a:srgbClr val="00B8D7"/>
                </a:solidFill>
                <a:latin typeface="Aptos"/>
              </a:rPr>
              <a:t>SOURCE + HACKATHON STATUS</a:t>
            </a:r>
            <a:endParaRPr lang="en-US" sz="900"/>
          </a:p>
        </p:txBody>
      </p:sp>
      <p:sp>
        <p:nvSpPr>
          <p:cNvPr id="3" name="Text 3"/>
          <p:cNvSpPr txBox="1"/>
          <p:nvPr/>
        </p:nvSpPr>
        <p:spPr>
          <a:xfrm>
            <a:off x="502920" y="384048"/>
            <a:ext cx="85496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2300" dirty="0" b="1">
                <a:solidFill>
                  <a:srgbClr val="FFFFFF"/>
                </a:solidFill>
                <a:latin typeface="Aptos"/>
              </a:rPr>
              <a:t>Hackathon scope delivered. Real-device results.</a:t>
            </a:r>
            <a:endParaRPr lang="en-US" sz="2300"/>
          </a:p>
        </p:txBody>
      </p:sp>
      <p:sp>
        <p:nvSpPr>
          <p:cNvPr id="4" name="Text 4"/>
          <p:cNvSpPr txBox="1"/>
          <p:nvPr/>
        </p:nvSpPr>
        <p:spPr>
          <a:xfrm>
            <a:off x="8668512" y="146304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US" sz="800" dirty="0" b="1">
                <a:solidFill>
                  <a:srgbClr val="FFFFFF"/>
                </a:solidFill>
                <a:latin typeface="Aptos"/>
              </a:rPr>
              <a:t>07</a:t>
            </a:r>
            <a:endParaRPr lang="en-US" sz="800"/>
          </a:p>
        </p:txBody>
      </p:sp>
      <p:sp>
        <p:nvSpPr>
          <p:cNvPr id="10" name="Text 10"/>
          <p:cNvSpPr txBox="1"/>
          <p:nvPr/>
        </p:nvSpPr>
        <p:spPr>
          <a:xfrm>
            <a:off x="603504" y="1280160"/>
            <a:ext cx="10680192" cy="4937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2300" dirty="0" b="1">
                <a:solidFill>
                  <a:srgbClr val="08172F"/>
                </a:solidFill>
                <a:latin typeface="Aptos"/>
              </a:rPr>
              <a:t>One persona. Build lean. Adapt at runtime.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603504" y="1929384"/>
            <a:ext cx="5074920" cy="1975104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9B77"/>
            </a:solidFill>
          </a:ln>
        </p:spPr>
        <p:txBody>
          <a:bodyPr wrap="square" lIns="237744" rIns="237744" tIns="237744" bIns="237744" anchor="t"/>
          <a:lstStyle/>
          <a:p>
            <a:pPr algn="l"/>
            <a:r>
              <a:rPr lang="en-US" sz="1200" dirty="0" b="1">
                <a:solidFill>
                  <a:srgbClr val="009B77"/>
                </a:solidFill>
                <a:latin typeface="Aptos"/>
              </a:rPr>
              <a:t>COMPLETED — HACKATHON</a:t>
            </a:r>
            <a:endParaRPr lang="en-US" sz="1200"/>
          </a:p>
          <a:p>
            <a:pPr algn="l"/>
            <a:r>
              <a:rPr lang="en-US" sz="1700" dirty="0" b="1">
                <a:solidFill>
                  <a:srgbClr val="34383D"/>
                </a:solidFill>
                <a:latin typeface="Aptos"/>
              </a:rPr>
              <a:t>Build + runtime personas</a:t>
            </a:r>
            <a:endParaRPr lang="en-US" sz="1700"/>
          </a:p>
          <a:p>
            <a:pPr algn="l"/>
            <a:r>
              <a:rPr lang="en-US" sz="1200" dirty="0">
                <a:solidFill>
                  <a:srgbClr val="34383D"/>
                </a:solidFill>
                <a:latin typeface="Aptos"/>
              </a:rPr>
              <a:t>l3-bgp-leaf-no-lag — lean BGP, no LAG</a:t>
            </a:r>
            <a:endParaRPr lang="en-US" sz="1200"/>
          </a:p>
          <a:p>
            <a:pPr algn="l"/>
            <a:r>
              <a:rPr lang="en-US" sz="1200" dirty="0">
                <a:solidFill>
                  <a:srgbClr val="34383D"/>
                </a:solidFill>
                <a:latin typeface="Aptos"/>
              </a:rPr>
              <a:t>l3-bgp-bfd-leaf — BGP + BFD detection</a:t>
            </a:r>
            <a:endParaRPr lang="en-US" sz="1200"/>
          </a:p>
          <a:p>
            <a:pPr algn="l"/>
            <a:r>
              <a:rPr lang="en-US" sz="1200" dirty="0">
                <a:solidFill>
                  <a:srgbClr val="34383D"/>
                </a:solidFill>
                <a:latin typeface="Aptos"/>
              </a:rPr>
              <a:t>l3-bgp-observability — BGP + monitoring</a:t>
            </a:r>
            <a:endParaRPr lang="en-US" sz="1200"/>
          </a:p>
          <a:p>
            <a:pPr algn="l"/>
            <a:r>
              <a:rPr lang="en-US" sz="1200" dirty="0">
                <a:solidFill>
                  <a:srgbClr val="34383D"/>
                </a:solidFill>
                <a:latin typeface="Aptos"/>
              </a:rPr>
              <a:t>l3-multirouting-lab — OSPF/PIM/PCEP daemons</a:t>
            </a:r>
            <a:endParaRPr lang="en-US" sz="1200"/>
          </a:p>
          <a:p>
            <a:pPr algn="l"/>
            <a:r>
              <a:rPr lang="en-US" sz="1100" dirty="0" b="1">
                <a:solidFill>
                  <a:srgbClr val="009B77"/>
                </a:solidFill>
                <a:latin typeface="Aptos"/>
              </a:rPr>
              <a:t>Native CLI • persistence • FRR policy • scale study</a:t>
            </a:r>
            <a:endParaRPr lang="en-US" sz="1100"/>
          </a:p>
        </p:txBody>
      </p:sp>
      <p:sp>
        <p:nvSpPr>
          <p:cNvPr id="12" name="Text 12"/>
          <p:cNvSpPr txBox="1"/>
          <p:nvPr/>
        </p:nvSpPr>
        <p:spPr>
          <a:xfrm>
            <a:off x="6190488" y="1929384"/>
            <a:ext cx="5093208" cy="1975104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198FD3"/>
            </a:solidFill>
          </a:ln>
        </p:spPr>
        <p:txBody>
          <a:bodyPr wrap="square" lIns="237744" rIns="237744" tIns="237744" bIns="237744" anchor="t"/>
          <a:lstStyle/>
          <a:p>
            <a:pPr algn="l"/>
            <a:r>
              <a:rPr lang="en-US" sz="1200" dirty="0" b="1">
                <a:solidFill>
                  <a:srgbClr val="198FD3"/>
                </a:solidFill>
                <a:latin typeface="Aptos"/>
              </a:rPr>
              <a:t>PLANNED ENHANCEMENTS</a:t>
            </a:r>
            <a:endParaRPr lang="en-US" sz="1200"/>
          </a:p>
          <a:p>
            <a:pPr algn="l"/>
            <a:r>
              <a:rPr lang="en-US" sz="1700" dirty="0" b="1">
                <a:solidFill>
                  <a:srgbClr val="34383D"/>
                </a:solidFill>
                <a:latin typeface="Aptos"/>
              </a:rPr>
              <a:t>Recovery + automated qualification</a:t>
            </a:r>
            <a:endParaRPr lang="en-US" sz="1700"/>
          </a:p>
          <a:p>
            <a:pPr algn="l"/>
            <a:r>
              <a:rPr lang="en-US" sz="1300" dirty="0">
                <a:solidFill>
                  <a:srgbClr val="34383D"/>
                </a:solidFill>
                <a:latin typeface="Aptos"/>
              </a:rPr>
              <a:t>Rollback • deeper dependency / health probes</a:t>
            </a:r>
            <a:endParaRPr lang="en-US" sz="1300"/>
          </a:p>
          <a:p>
            <a:pPr algn="l"/>
            <a:r>
              <a:rPr lang="en-US" sz="1400" dirty="0">
                <a:solidFill>
                  <a:srgbClr val="34383D"/>
                </a:solidFill>
                <a:latin typeface="Aptos"/>
              </a:rPr>
              <a:t>Artifact verification + integrated reporting</a:t>
            </a:r>
            <a:endParaRPr lang="en-US" sz="1400"/>
          </a:p>
          <a:p>
            <a:pPr algn="l"/>
            <a:r>
              <a:rPr lang="en-US" sz="1400" dirty="0">
                <a:solidFill>
                  <a:srgbClr val="34383D"/>
                </a:solidFill>
                <a:latin typeface="Aptos"/>
              </a:rPr>
              <a:t>More platforms + measured CVE assessment</a:t>
            </a:r>
            <a:endParaRPr lang="en-US" sz="1400"/>
          </a:p>
        </p:txBody>
      </p:sp>
      <p:sp>
        <p:nvSpPr>
          <p:cNvPr id="13" name="Text 13"/>
          <p:cNvSpPr txBox="1"/>
          <p:nvPr/>
        </p:nvSpPr>
        <p:spPr>
          <a:xfrm>
            <a:off x="603504" y="4169663"/>
            <a:ext cx="10680192" cy="539496"/>
          </a:xfrm>
          <a:prstGeom prst="roundRect">
            <a:avLst/>
          </a:prstGeom>
          <a:solidFill>
            <a:srgbClr val="E4F2F7"/>
          </a:solidFill>
          <a:ln>
            <a:noFill/>
          </a:ln>
        </p:spPr>
        <p:txBody>
          <a:bodyPr wrap="square" lIns="73152" rIns="73152" tIns="73152" bIns="73152" anchor="ctr"/>
          <a:lstStyle/>
          <a:p>
            <a:pPr algn="ctr"/>
            <a:r>
              <a:rPr lang="en-US" sz="1500" dirty="0" b="1">
                <a:solidFill>
                  <a:srgbClr val="009B77"/>
                </a:solidFill>
                <a:latin typeface="Aptos"/>
              </a:rPr>
              <a:t>STATUS: Completed</a:t>
            </a:r>
            <a:endParaRPr lang="en-US" sz="1500"/>
          </a:p>
          <a:p>
            <a:pPr algn="ctr"/>
            <a:r>
              <a:rPr lang="en-US" sz="1100" dirty="0">
                <a:solidFill>
                  <a:srgbClr val="687985"/>
                </a:solidFill>
                <a:latin typeface="Aptos"/>
              </a:rPr>
              <a:t>Hackathon scope: build + runtime implemented and demonstrated</a:t>
            </a:r>
            <a:endParaRPr lang="en-US" sz="1100"/>
          </a:p>
        </p:txBody>
      </p:sp>
      <p:sp>
        <p:nvSpPr>
          <p:cNvPr id="14" name="Text 14"/>
          <p:cNvSpPr txBox="1"/>
          <p:nvPr/>
        </p:nvSpPr>
        <p:spPr>
          <a:xfrm>
            <a:off x="731520" y="4992624"/>
            <a:ext cx="5029200" cy="5394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00" dirty="0" b="1">
                <a:solidFill>
                  <a:srgbClr val="687985"/>
                </a:solidFill>
                <a:latin typeface="Aptos"/>
                <a:hlinkClick r:id="rId3"/>
              </a:rPr>
              <a:t>BUILD + RUNTIME CORE</a:t>
            </a:r>
            <a:endParaRPr lang="en-US" sz="1000"/>
          </a:p>
          <a:p>
            <a:pPr algn="l"/>
            <a:r>
              <a:rPr lang="en-US" sz="1300" dirty="0" b="1">
                <a:solidFill>
                  <a:srgbClr val="198FD3"/>
                </a:solidFill>
                <a:latin typeface="Aptos"/>
                <a:hlinkClick r:id="rId3"/>
              </a:rPr>
              <a:t>github.com/mh-csonic/sonic-buildimage</a:t>
            </a:r>
            <a:endParaRPr lang="en-US" sz="1300"/>
          </a:p>
        </p:txBody>
      </p:sp>
      <p:sp>
        <p:nvSpPr>
          <p:cNvPr id="15" name="Text 15"/>
          <p:cNvSpPr txBox="1"/>
          <p:nvPr/>
        </p:nvSpPr>
        <p:spPr>
          <a:xfrm>
            <a:off x="6300216" y="4992624"/>
            <a:ext cx="4846320" cy="5394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US" sz="1000" dirty="0" b="1">
                <a:solidFill>
                  <a:srgbClr val="687985"/>
                </a:solidFill>
                <a:latin typeface="Aptos"/>
                <a:hlinkClick r:id="rId4"/>
              </a:rPr>
              <a:t>NATIVE SONiC CLI</a:t>
            </a:r>
            <a:endParaRPr lang="en-US" sz="1000"/>
          </a:p>
          <a:p>
            <a:pPr algn="l"/>
            <a:r>
              <a:rPr lang="en-US" sz="1300" dirty="0" b="1">
                <a:solidFill>
                  <a:srgbClr val="198FD3"/>
                </a:solidFill>
                <a:latin typeface="Aptos"/>
                <a:hlinkClick r:id="rId4"/>
              </a:rPr>
              <a:t>github.com/mh-csonic/sonic-utilities</a:t>
            </a:r>
            <a:endParaRPr lang="en-US" sz="1300"/>
          </a:p>
        </p:txBody>
      </p:sp>
      <p:sp>
        <p:nvSpPr>
          <p:cNvPr id="16" name="Text 16"/>
          <p:cNvSpPr txBox="1"/>
          <p:nvPr/>
        </p:nvSpPr>
        <p:spPr>
          <a:xfrm>
            <a:off x="603504" y="5696712"/>
            <a:ext cx="106801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1100" dirty="0">
                <a:solidFill>
                  <a:srgbClr val="687985"/>
                </a:solidFill>
                <a:latin typeface="Aptos"/>
              </a:rPr>
              <a:t>Source branch: rathnasabapathyv/2026_hackathon_persona</a:t>
            </a:r>
            <a:endParaRPr lang="en-US" sz="1100"/>
          </a:p>
        </p:txBody>
      </p:sp>
      <p:sp>
        <p:nvSpPr>
          <p:cNvPr id="17" name="Text 17"/>
          <p:cNvSpPr txBox="1"/>
          <p:nvPr/>
        </p:nvSpPr>
        <p:spPr>
          <a:xfrm>
            <a:off x="603504" y="6080760"/>
            <a:ext cx="106801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en-US" sz="1400" dirty="0" b="1">
                <a:solidFill>
                  <a:srgbClr val="198FD3"/>
                </a:solidFill>
                <a:latin typeface="Aptos"/>
                <a:hlinkClick r:id="rId5"/>
              </a:rPr>
              <a:t>Open the study, HLD and requirements →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PersonaForge presentation generator</Application>
  <PresentationFormat>Widescreen</PresentationFormat>
  <Words>571</Words>
  <Paragraphs>155</Paragraphs>
  <Slides>7</Slides>
  <Notes>0</Notes>
  <HiddenSlides>0</HiddenSlides>
  <MMClips>0</MMClips>
  <HeadingPairs>
    <vt:vector size="2" baseType="variant">
      <vt:variant>
        <vt:lpstr>Slide Titles</vt:lpstr>
      </vt:variant>
      <vt:variant>
        <vt:i4>7</vt:i4>
      </vt:variant>
    </vt:vector>
  </HeadingPairs>
  <TitlesOfParts>
    <vt:vector size="7" baseType="lpstr">
      <vt:lpstr>PersonaForge</vt:lpstr>
      <vt:lpstr>Existing SONiC controls. New persona workflow.</vt:lpstr>
      <vt:lpstr>If FEATURE can stop it, why PersonaForge?</vt:lpstr>
      <vt:lpstr>One persona compiles into two operating models</vt:lpstr>
      <vt:lpstr>Smaller footprint. Less software exposure.</vt:lpstr>
      <vt:lpstr>PersonaForge in action</vt:lpstr>
      <vt:lpstr>Hackathon scope delivered. Real-device results.</vt:lpstr>
    </vt:vector>
  </TitlesOfParts>
  <Company>Dell Technologies</Company>
</Properties>
</file>

<file path=docProps/core.xml><?xml version="1.0" encoding="utf-8"?>
<cp:coreProperties xmlns:cp="http://schemas.openxmlformats.org/package/2006/metadata/core-properties" xmlns:dc="http://purl.org/dc/elements/1.1/">
  <dc:title>PersonaForge — OCP Hackathon 2026</dc:title>
  <dc:subject>Purpose-built SONiC roles with verified build and runtime personas</dc:subject>
</cp:coreProperties>
</file>